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d81abc0ee8459a" /><Relationship Type="http://schemas.openxmlformats.org/officeDocument/2006/relationships/extended-properties" Target="/docProps/app.xml" Id="Rd1cd39e8e13a4399" /><Relationship Type="http://schemas.openxmlformats.org/officeDocument/2006/relationships/officeDocument" Target="/ppt/presentation.xml" Id="R303da97a07aa44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64a0424b11423f"/>
  </p:sldMasterIdLst>
  <p:notesMasterIdLst>
    <p:notesMasterId xmlns:r="http://schemas.openxmlformats.org/officeDocument/2006/relationships" r:id="R39d866dbd7b6491f"/>
  </p:notesMasterIdLst>
  <p:sldIdLst>
    <p:sldId xmlns:r="http://schemas.openxmlformats.org/officeDocument/2006/relationships" id="256" r:id="R4adea740fcf347b4"/>
    <p:sldId xmlns:r="http://schemas.openxmlformats.org/officeDocument/2006/relationships" id="257" r:id="R393e11b537164388"/>
    <p:sldId xmlns:r="http://schemas.openxmlformats.org/officeDocument/2006/relationships" id="258" r:id="Rdf7653266bc14c61"/>
    <p:sldId xmlns:r="http://schemas.openxmlformats.org/officeDocument/2006/relationships" id="259" r:id="R0b7229184ec24fbc"/>
    <p:sldId xmlns:r="http://schemas.openxmlformats.org/officeDocument/2006/relationships" id="260" r:id="R82df56f7f2f74e34"/>
    <p:sldId xmlns:r="http://schemas.openxmlformats.org/officeDocument/2006/relationships" id="261" r:id="R79c227f537e24436"/>
    <p:sldId xmlns:r="http://schemas.openxmlformats.org/officeDocument/2006/relationships" id="262" r:id="Rf6b9efc3620e4741"/>
    <p:sldId xmlns:r="http://schemas.openxmlformats.org/officeDocument/2006/relationships" id="263" r:id="Rdc0db56b7f434396"/>
    <p:sldId xmlns:r="http://schemas.openxmlformats.org/officeDocument/2006/relationships" id="264" r:id="R713d3ad2312b4a22"/>
    <p:sldId xmlns:r="http://schemas.openxmlformats.org/officeDocument/2006/relationships" id="265" r:id="Rd862224777e846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604317034d43b1" /><Relationship Type="http://schemas.openxmlformats.org/officeDocument/2006/relationships/slideMaster" Target="/ppt/slideMasters/slideMaster1.xml" Id="Rf564a0424b11423f" /><Relationship Type="http://schemas.openxmlformats.org/officeDocument/2006/relationships/notesMaster" Target="/ppt/notesMasters/notesMaster1.xml" Id="R39d866dbd7b6491f" /><Relationship Type="http://schemas.openxmlformats.org/officeDocument/2006/relationships/presProps" Target="/ppt/presProps.xml" Id="R2f2719b6c25a4061" /><Relationship Type="http://schemas.openxmlformats.org/officeDocument/2006/relationships/tableStyles" Target="/ppt/tableStyles.xml" Id="R47bcbfd9986445f2" /><Relationship Type="http://schemas.openxmlformats.org/officeDocument/2006/relationships/slide" Target="/ppt/slides/slide1.xml" Id="R4adea740fcf347b4" /><Relationship Type="http://schemas.openxmlformats.org/officeDocument/2006/relationships/slide" Target="/ppt/slides/slide2.xml" Id="R393e11b537164388" /><Relationship Type="http://schemas.openxmlformats.org/officeDocument/2006/relationships/slide" Target="/ppt/slides/slide3.xml" Id="Rdf7653266bc14c61" /><Relationship Type="http://schemas.openxmlformats.org/officeDocument/2006/relationships/slide" Target="/ppt/slides/slide4.xml" Id="R0b7229184ec24fbc" /><Relationship Type="http://schemas.openxmlformats.org/officeDocument/2006/relationships/slide" Target="/ppt/slides/slide5.xml" Id="R82df56f7f2f74e34" /><Relationship Type="http://schemas.openxmlformats.org/officeDocument/2006/relationships/slide" Target="/ppt/slides/slide6.xml" Id="R79c227f537e24436" /><Relationship Type="http://schemas.openxmlformats.org/officeDocument/2006/relationships/slide" Target="/ppt/slides/slide7.xml" Id="Rf6b9efc3620e4741" /><Relationship Type="http://schemas.openxmlformats.org/officeDocument/2006/relationships/slide" Target="/ppt/slides/slide8.xml" Id="Rdc0db56b7f434396" /><Relationship Type="http://schemas.openxmlformats.org/officeDocument/2006/relationships/slide" Target="/ppt/slides/slide9.xml" Id="R713d3ad2312b4a22" /><Relationship Type="http://schemas.openxmlformats.org/officeDocument/2006/relationships/slide" Target="/ppt/slides/slide10.xml" Id="Rd862224777e846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2bc233dfa547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c2b8eb5a1445c9" /><Relationship Type="http://schemas.openxmlformats.org/officeDocument/2006/relationships/notesMaster" Target="/ppt/notesMasters/notesMaster1.xml" Id="R46ae4e1b9f5c47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f2542df251489c" /><Relationship Type="http://schemas.openxmlformats.org/officeDocument/2006/relationships/notesMaster" Target="/ppt/notesMasters/notesMaster1.xml" Id="R7c697d20977f43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ce7ea85397409b" /><Relationship Type="http://schemas.openxmlformats.org/officeDocument/2006/relationships/notesMaster" Target="/ppt/notesMasters/notesMaster1.xml" Id="Rc9e07fb2f9f14d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4639a550644074" /><Relationship Type="http://schemas.openxmlformats.org/officeDocument/2006/relationships/notesMaster" Target="/ppt/notesMasters/notesMaster1.xml" Id="R329c5d02aff040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7c2373bd904855" /><Relationship Type="http://schemas.openxmlformats.org/officeDocument/2006/relationships/notesMaster" Target="/ppt/notesMasters/notesMaster1.xml" Id="Rbc0479733cac4c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5daf924ffd4cb7" /><Relationship Type="http://schemas.openxmlformats.org/officeDocument/2006/relationships/notesMaster" Target="/ppt/notesMasters/notesMaster1.xml" Id="R8010467135e24e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6e0f018c2540c1" /><Relationship Type="http://schemas.openxmlformats.org/officeDocument/2006/relationships/notesMaster" Target="/ppt/notesMasters/notesMaster1.xml" Id="R4dde907d6abc49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3adf71f08c483e" /><Relationship Type="http://schemas.openxmlformats.org/officeDocument/2006/relationships/notesMaster" Target="/ppt/notesMasters/notesMaster1.xml" Id="R472e304193954a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00b5b7fb764315" /><Relationship Type="http://schemas.openxmlformats.org/officeDocument/2006/relationships/notesMaster" Target="/ppt/notesMasters/notesMaster1.xml" Id="R284c6a5b0d5e45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55f90254464323" /><Relationship Type="http://schemas.openxmlformats.org/officeDocument/2006/relationships/notesMaster" Target="/ppt/notesMasters/notesMaster1.xml" Id="Ra562d736672a41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8172fa70444a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2f29b668e343b9" /><Relationship Type="http://schemas.openxmlformats.org/officeDocument/2006/relationships/slideLayout" Target="/ppt/slideLayouts/slideLayout1.xml" Id="R3093a3ff553746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93a3ff553746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8e51c25a64f17" /><Relationship Type="http://schemas.openxmlformats.org/officeDocument/2006/relationships/notesSlide" Target="/ppt/notesSlides/notesSlide1.xml" Id="R90f441284ca241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7862185b94c11" /><Relationship Type="http://schemas.openxmlformats.org/officeDocument/2006/relationships/image" Target="/ppt/media/image.png" Id="R7d3f88b0d331454a" /><Relationship Type="http://schemas.openxmlformats.org/officeDocument/2006/relationships/notesSlide" Target="/ppt/notesSlides/notesSlide2.xml" Id="Rd4b8f4150f1849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c6c8eaad04820" /><Relationship Type="http://schemas.openxmlformats.org/officeDocument/2006/relationships/image" Target="/ppt/media/image2.png" Id="R3a7b6bc9768f4e1f" /><Relationship Type="http://schemas.openxmlformats.org/officeDocument/2006/relationships/image" Target="/ppt/media/image3.png" Id="R920cdb18abf242d6" /><Relationship Type="http://schemas.openxmlformats.org/officeDocument/2006/relationships/notesSlide" Target="/ppt/notesSlides/notesSlide3.xml" Id="R128f27a0a10241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43a18be9f4568" /><Relationship Type="http://schemas.openxmlformats.org/officeDocument/2006/relationships/image" Target="/ppt/media/image4.png" Id="Rc8a9ab57f6544f23" /><Relationship Type="http://schemas.openxmlformats.org/officeDocument/2006/relationships/image" Target="/ppt/media/image5.png" Id="R2e20a6a9e9854ff1" /><Relationship Type="http://schemas.openxmlformats.org/officeDocument/2006/relationships/notesSlide" Target="/ppt/notesSlides/notesSlide4.xml" Id="R25b8a70287e346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063005a7f4c1b" /><Relationship Type="http://schemas.openxmlformats.org/officeDocument/2006/relationships/image" Target="/ppt/media/image6.png" Id="Rcb493d4457754868" /><Relationship Type="http://schemas.openxmlformats.org/officeDocument/2006/relationships/notesSlide" Target="/ppt/notesSlides/notesSlide5.xml" Id="R6eb2e2716d2e45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513e0b07e4240" /><Relationship Type="http://schemas.openxmlformats.org/officeDocument/2006/relationships/image" Target="/ppt/media/image7.png" Id="Rc684ecda4d874e1e" /><Relationship Type="http://schemas.openxmlformats.org/officeDocument/2006/relationships/image" Target="/ppt/media/image8.png" Id="R790e06bc1cc64682" /><Relationship Type="http://schemas.openxmlformats.org/officeDocument/2006/relationships/image" Target="/ppt/media/image9.png" Id="R80d5f478d9ca4801" /><Relationship Type="http://schemas.openxmlformats.org/officeDocument/2006/relationships/notesSlide" Target="/ppt/notesSlides/notesSlide6.xml" Id="Re620e810e45243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c0bd7d5ed478f" /><Relationship Type="http://schemas.openxmlformats.org/officeDocument/2006/relationships/image" Target="/ppt/media/image10.png" Id="Rc1e60c0c9e444d64" /><Relationship Type="http://schemas.openxmlformats.org/officeDocument/2006/relationships/image" Target="/ppt/media/image11.png" Id="R3562e0d0282e4cce" /><Relationship Type="http://schemas.openxmlformats.org/officeDocument/2006/relationships/image" Target="/ppt/media/image12.png" Id="R8898c7a15b674b39" /><Relationship Type="http://schemas.openxmlformats.org/officeDocument/2006/relationships/image" Target="/ppt/media/image13.png" Id="R88c6dcd20d91415e" /><Relationship Type="http://schemas.openxmlformats.org/officeDocument/2006/relationships/notesSlide" Target="/ppt/notesSlides/notesSlide7.xml" Id="R97e6506aedf841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aa00574804618" /><Relationship Type="http://schemas.openxmlformats.org/officeDocument/2006/relationships/notesSlide" Target="/ppt/notesSlides/notesSlide8.xml" Id="R0d3ea6f131bc4f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7c7aac5684564" /><Relationship Type="http://schemas.openxmlformats.org/officeDocument/2006/relationships/notesSlide" Target="/ppt/notesSlides/notesSlide9.xml" Id="Rd470759b3b224d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1cf7ce4cb46d3" /><Relationship Type="http://schemas.openxmlformats.org/officeDocument/2006/relationships/notesSlide" Target="/ppt/notesSlides/notesSlide10.xml" Id="Rce4d38ac8c9148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9CEBCF-BCD9-49A7-B5E3-CB7E3104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73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3D8A8-CE1A-4AA7-AC27-55CE9D80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7239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1E869-CFED-40C1-9BA1-D5B87D05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2026년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13117-120E-4BC8-960B-059FBBC2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LG생활건강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C194F-7340-4594-9925-53890DC8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국내영업 Experience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D1C1F-2D9E-42C6-A0EB-56E87DF2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50328-DC1A-4500-953D-457726DA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238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고객의 행동을 읽고,</a:t>
            </a:r>
          </a:p>
          <a:p xmlns:a="http://schemas.openxmlformats.org/drawingml/2006/main">
            <a:pPr algn="l">
              <a:def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데이터로 판단하며,</a:t>
            </a:r>
          </a:p>
          <a:p xmlns:a="http://schemas.openxmlformats.org/drawingml/2006/main">
            <a:pPr algn="l">
              <a:def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실행으로 연결하는 사람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1AF24-E291-4A9C-B73D-D3FE8523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김가영  |  LG생활건강 국내영업 지원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E4FBC-675F-47B6-9D21-251DE209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62125"/>
            <a:ext cx="666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P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O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R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T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F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O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L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I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20023099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555BE4-ED80-4C14-B90A-06C85B1E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95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E9E40-12DF-4CF1-BF9B-D2705A0B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FD9FF-7765-4A13-974C-29AEC859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C9C9C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0">
                <a:solidFill>
                  <a:srgbClr val="9C9C9C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9F2F9-4601-44F6-95A7-CDC0AD9C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Experience</a:t>
            </a:r>
          </a:p>
          <a:p xmlns:a="http://schemas.openxmlformats.org/drawingml/2006/main">
            <a:pPr algn="l">
              <a:defRPr sz="22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A7DB1-E70E-450D-A2BF-42AFA312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162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f88b0d331454a"/>
          <a:stretch xmlns:a="http://schemas.openxmlformats.org/drawingml/2006/main"/>
        </p:blipFill>
        <p:spPr>
          <a:xfrm xmlns:a="http://schemas.openxmlformats.org/drawingml/2006/main">
            <a:off x="923925" y="4006850"/>
            <a:ext cx="1162050" cy="1549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0B07D-4FB5-4E59-B8FD-F7052FAE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6388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김가영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26297-4601-45AA-9958-93B318D0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71437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고객 이해에서 실행까지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E87B9-90A2-4204-A071-2038EC19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0668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국내영업을 준비해온 경험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672A6-C2E4-4B30-8EE1-A980DE8F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05000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A2362-8582-4942-B533-E49B9DF9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468EB-DDEE-462F-95E6-48958018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335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관찰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0FBFD4-F9B5-4D9E-817D-F1E4BC09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335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취업일지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90B367-9C64-4EB1-9164-47DDC1E7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859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약 50명 사용자의 이용 흐름과 요구를 반영해 서비스 구조 개선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0B0892-E2BB-45B0-8E3C-2C62913F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384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115F0A-60E5-4989-9EC7-D0731BB0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81300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2346A6-5F8A-47DC-BE53-137B0D55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289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92B757-09FA-4F4A-8C67-BBC41BFE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098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데이터 기반 판단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C6A496-C3ED-4105-BBCB-15954DC0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098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웹툰 소비자 분석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3EB2DF-765B-4800-B391-8C5936EC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622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해외 소비자를 5개 유형으로 구분하고 유형별 전략 근거 도출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8038FA-00CB-4735-B172-30FA1ED6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147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90B08C-AE4D-4B91-8308-37CFA0BE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57600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2C6D24-4C2E-4C7C-AD94-F2AF17FE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052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D5D41E-E512-434E-939B-95149CDC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861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전략 기획·실행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D4AE61-F282-45F5-B532-21DA4886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861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제주항공 IMC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D1190A-643B-44D7-83B8-C0D2967C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385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2030 구매행동 분석을 기반으로 온·오프라인 캠페인 기획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6EA1CD-21A5-4E27-95BE-477BC14E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910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D2D9D3-3914-4681-A058-4924BBF6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33900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087684-BBFE-4D9A-8DFF-D91D7BBE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815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7E7362-4475-47D0-BE87-AC9068E6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624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커뮤니케이션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D8A272-75E5-4E13-BAB8-FFE253CE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624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입학팀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3C45EA-00C2-4E2A-8013-F3B31D2A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148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약 3년간 문의·민원에 대응하고 고객별 맞춤 정보 제공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0501D0-9ECB-492F-9966-DF61F443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673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58DB29-95ED-4BB2-9621-FB0AF817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81675"/>
            <a:ext cx="7762875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6C1D84-BBE7-4B09-AD75-CBA20CC0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905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관찰   분석   실행   개선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8F27E7-F47F-45AF-8344-3E3FAE1A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1502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고객의 선택을 이해하고 실행 가능한 전략으로 연결</a:t>
            </a:r>
          </a:p>
        </p:txBody>
      </p:sp>
    </p:spTree>
    <p:extLst>
      <p:ext uri="{BB962C8B-B14F-4D97-AF65-F5344CB8AC3E}">
        <p14:creationId xmlns:p14="http://schemas.microsoft.com/office/powerpoint/2010/main" val="5378706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137B26-F634-4EED-B3E5-388C4B85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DE1BB-42B2-4897-A063-7501C12B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E638F-A724-42A7-AD9B-D26BDE91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6EA59-E847-4789-A7F9-E1116A9E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(1/7)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BC65B-84E9-4D2B-BE4A-1CF3B819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B890B-BC3F-4985-B16C-2F37EAC6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취업일지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9A970-A00D-4C83-A464-0B30497F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50명의 취업준비생, 기록을 지속하게 만드는 방법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C0A64A-296B-477C-A8EB-99156D1F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4AD93-E445-410A-8B84-72178F28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7E22E-FCD6-46D7-A1F5-BA0CCDFF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프로젝트 개요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DC307-1E09-4F99-9329-4237BC89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19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취업 준비 활동과 목표를 기록하고 공유하는 서비스입니다. 참여자는 함께 준비하는 사람들의 활동을 확인하며 자신의 성장 과정을 볼 수 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B13A8-0482-4F48-8506-7450DE57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1001A-BD81-4AF4-A4BE-B33C4B7A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576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FF1537-062C-40ED-A387-5D3EA678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4807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고객과 나의 역할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6C8D9E-D0E2-48B9-A7BB-307F88FB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4E0BA7-CB61-4877-BE9A-8A4CB550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약 50명 규모 취업 커뮤니티의 참여자와 운영자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CE375A-B79F-46D6-8A21-454600D0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23E2E7-53FE-459E-8420-A0420DF1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4340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사용자와 운영자의 이용 흐름과 필요한 정보 정의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01743F-2FF6-4ABB-A508-C729DCF4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B26D1C-1EA4-41CD-8FA7-B90E1B9D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386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기능 우선순위와 운영 정책 설계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44D83D-C79B-47AA-AB72-0CF29824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138F5C-7696-4AA1-BC1A-3A60C7E2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3395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구현 검증과 배포 후 사용자 피드백 반영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b6bc9768f4e1f"/>
          <a:stretch xmlns:a="http://schemas.openxmlformats.org/drawingml/2006/main"/>
        </p:blipFill>
        <p:spPr>
          <a:xfrm xmlns:a="http://schemas.openxmlformats.org/drawingml/2006/main">
            <a:off x="6477000" y="2708975"/>
            <a:ext cx="4953000" cy="963799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cdb18abf242d6"/>
          <a:stretch xmlns:a="http://schemas.openxmlformats.org/drawingml/2006/main"/>
        </p:blipFill>
        <p:spPr>
          <a:xfrm xmlns:a="http://schemas.openxmlformats.org/drawingml/2006/main">
            <a:off x="6429375" y="4169309"/>
            <a:ext cx="5000625" cy="1138756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96B75-1575-4526-92C3-2D839E26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01198A-12AB-4210-89E2-7C511463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203F41-541D-48C3-9ABB-7E018A3D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운영 경험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B00402-F6CD-45B6-B993-ADAB027E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1E9E14-11ED-4420-A48E-B64017A0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개인 기획·운영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B8022A-2D9F-49FE-B06E-C23E1087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1D24B5-06D2-4373-BE10-08F1F47D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문제 정의 · 요구사항/정책 설계 · 구현 검증 · 배포/운영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D5072F-7E1A-4346-8D25-F5514506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53D76B-3381-415B-A740-5272842C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A640D8-1316-4660-8A16-3E265A66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60725C-CEFF-4A32-B5FB-28D43682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사용자의 행동을 관찰하고 실제 이용 흐름을 기준으로 서비스를 설계했습니다.</a:t>
            </a:r>
          </a:p>
        </p:txBody>
      </p:sp>
    </p:spTree>
    <p:extLst>
      <p:ext uri="{BB962C8B-B14F-4D97-AF65-F5344CB8AC3E}">
        <p14:creationId xmlns:p14="http://schemas.microsoft.com/office/powerpoint/2010/main" val="6440882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5F38F3-B335-4D17-9771-E133A293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3C21D-8327-4CB7-98F3-976E1084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293AF-7486-406B-84CD-3AB2BF27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2CDEA-F371-4D23-84F2-1A44C33E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(2/7)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C84FE-1A2A-4339-8D72-B3D14BF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37434-48AD-435A-9841-B639D25B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취업일지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346AC-6FB8-4A4C-997B-0D1FE176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사용자 요구와 서비스 구조 개선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49717-3875-475C-9581-C62B478B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D2328-1DF0-48BF-8FBB-EDA50013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D1868-BBA5-4BD3-A06B-8F667D35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활동 기록 개선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92847-D7A2-492B-9059-15CF286B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총 활동시간만 입력하던 구조에서 활동별 시간을 확인하고 싶다는 요구를 반영했습니다.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1A5172-81BA-4261-9DF4-9F9BDA04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521970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29440A-4868-495D-A62A-3173E834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활동별 시간을 입력하고 확인하도록 기록 항목을 세분화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349CF-49B3-45D1-A105-B4D671AE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922FF-8AE6-480A-A23B-3FB6011C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909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10906-D8D2-415E-9AA5-E0FAB1C7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조 세분화 기능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650364-E511-4DAB-B0ED-43D1BA6E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5219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참여자를 조별로 세분화해 같은 조의 활동 기록을 한눈에 비교할 수 있도록 개선했습니다. 운영자는 조별 참여 현황을 더 쉽게 확인할 수 있습니다.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a9ab57f6544f23"/>
          <a:stretch xmlns:a="http://schemas.openxmlformats.org/drawingml/2006/main"/>
        </p:blipFill>
        <p:spPr>
          <a:xfrm xmlns:a="http://schemas.openxmlformats.org/drawingml/2006/main">
            <a:off x="6493051" y="2333625"/>
            <a:ext cx="4920897" cy="1381125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0a6a9e9854ff1"/>
          <a:stretch xmlns:a="http://schemas.openxmlformats.org/drawingml/2006/main"/>
        </p:blipFill>
        <p:spPr>
          <a:xfrm xmlns:a="http://schemas.openxmlformats.org/drawingml/2006/main">
            <a:off x="6891276" y="3905250"/>
            <a:ext cx="4124447" cy="166687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83B6AE-A5F9-485C-91F8-FBF32D0A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5CE24D-DC20-4CB4-8280-BC24C093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83FEFC-59B9-4542-94CC-952366A0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운영 경험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076802-BFCB-47B3-932E-475F72D4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608D63-269E-4C95-8DA3-55F02236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개인 기획·운영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417DAD-CD5A-4941-8E27-DCE7DC77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6ED62B-0866-4371-BA65-6BEF4C03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사용자 요구 반영 · 활동별 입력 개선 · 조별 활동 기록 비교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1495A4-88D5-40DF-A642-6AB7271D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3FB935-D40D-4B66-9DC0-060FD62C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9C3F2F-7B76-49C5-A990-AA5A48AB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E6A8A6-B602-46E2-8E11-698109C2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실제 행동과 반응을 확인하고 실행 이후의 개선까지 연결했습니다.</a:t>
            </a:r>
          </a:p>
        </p:txBody>
      </p:sp>
    </p:spTree>
    <p:extLst>
      <p:ext uri="{BB962C8B-B14F-4D97-AF65-F5344CB8AC3E}">
        <p14:creationId xmlns:p14="http://schemas.microsoft.com/office/powerpoint/2010/main" val="7112374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7AD8B1-C37D-4DB8-A0F5-CD147E4D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C9EFA-773C-4652-ACBB-3EA45E9B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E38AA-00C0-418C-B424-364A496B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CF9DC-9F68-4BBC-9637-3701489D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(3/7)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7ABDB-C6CA-41D7-9510-17D483F4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2B017-13C0-47F8-9EA0-0776CDBE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제주항공 리프레시 포인트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6C9D0A-9D3C-4C9A-9459-B9B1D1A5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2030의 구매행동에서 포인트 활성화의 실마리를 찾다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D285B-7905-41B9-966F-854462CD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0BC41-8249-4C62-AA10-4C9F3FE7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E2B94B-071F-48C1-AAD2-24644318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프로젝트 개요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C0DC3-06E6-4DB7-8DE7-294CFFCC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1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2030 고객의 포인트 인지도와 사용을 높이기 위해 콘텐츠를 만들기 전에 고객이 포인트를 어떻게 인식하고 사용하는지 확인했습니다.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4ECF36-6D9E-437A-B07E-EF5DF3D8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77C06-3B64-48DF-B3C1-E6A55849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528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D5650C-2CF4-4E9E-9130-84B10BF4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4332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조사와 판단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6CAC69-2F14-406A-BB39-806F9624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433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838CE6-863A-4832-86C2-A8460DEA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433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2030 대상 설문조사를 직접 설계하고 배포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D75F35-FB8F-4E99-BBF4-A40C8706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1F7B95-DDC2-4ECD-9330-D045BDDB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6722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포인트 인지도와 구매행동, 소비자 반응 분석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950B5A-7A6C-49E6-94AB-9810C53E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910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E22D3B-BB0A-4DD5-8F42-3B19EC9E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910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조사 결과를 온·오프라인 전략 방향의 근거로 활용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23CA03-E2D6-496B-8E47-CF7EBC2C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CEFD0C-2E7B-4C8E-9E5F-BF5CBA34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768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50C798-FA96-41D6-B58E-B60C82A3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6732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나의 역할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153E13-8156-44E5-9EEB-AE5DFAA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조장 · 전략 기획 총괄 · 콘텐츠 기획 및 제작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93d4457754868"/>
          <a:stretch xmlns:a="http://schemas.openxmlformats.org/drawingml/2006/main"/>
        </p:blipFill>
        <p:spPr>
          <a:xfrm xmlns:a="http://schemas.openxmlformats.org/drawingml/2006/main">
            <a:off x="6429619" y="2524125"/>
            <a:ext cx="5000137" cy="280987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E16351-FC8C-4C9C-8681-43510E74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E4D6F0-890A-49B6-9842-6661E392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EA6EAD-B22B-40FA-9B2E-AC9AFABE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2024.10.12 ~ 2025.02.07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A872C5-1C00-46F3-80BE-20253BB3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94F511-936C-4EAD-83D0-95A56574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10인 프로젝트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908620-0BBC-4A4D-AEA7-3675B4B5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821748-D782-4F74-8C25-EEBEDAF6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조장 · 기획 총괄 · 콘텐츠 기획 및 제작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8C7F76-331F-475B-9AC3-48E7EF86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A4545D-94BB-4D34-A93E-887AB36A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F46319-B72B-4E89-B1B1-822A11BF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B333A2-C70F-44B6-9BC0-C726F3B8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구매행동을 먼저 확인한 뒤 프로모션 방향을 설계했습니다.</a:t>
            </a:r>
          </a:p>
        </p:txBody>
      </p:sp>
    </p:spTree>
    <p:extLst>
      <p:ext uri="{BB962C8B-B14F-4D97-AF65-F5344CB8AC3E}">
        <p14:creationId xmlns:p14="http://schemas.microsoft.com/office/powerpoint/2010/main" val="19713320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589C38-5E04-41E8-AC53-9A4A6960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42566-3D51-41A5-832A-18F75EAE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89CDD-D404-48F8-BE37-E611B7AB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84E0A-E25E-457A-AE53-7AA8A29A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(4/7)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E3A7D-7636-48EC-8039-386E8468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04.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D8BAF-09A2-4153-86D9-0277D1F0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제주항공 리프레시 포인트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C061B-EED0-4376-91C4-7E5CBAFA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온·오프라인 고객 경험으로 전략 실행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6B02B-9833-472C-98C9-F59D914E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2B8DB-B9B4-4C3A-A330-3DA20B92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74C1D-11BD-455D-B00C-7BD1FE76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온라인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07B7D-EFAC-4B6C-89FA-AF2F15C6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61817-A1A8-401C-8735-FE9F648E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6225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포인트 적립률을 전달하는 인포머셜 숏폼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E1D9B0-0276-4C8D-A875-285EB491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DE2FB-057D-405F-A04E-CD743D8E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765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오징어게임 패러디 바이럴 영상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178FD7-4E5B-4A09-B12C-03DD6F38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D5EE1F-F017-4C1D-B0C8-998CA349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39090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앱 기반 고객 참여 이벤트 아이디어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A6A5D3-1AA8-4F97-8AD6-863B652D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DDA9E-EF8B-4509-AD65-94CA0BA7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909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D52C38-1C1D-4FDE-B11D-11D26946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오프라인 실행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977B6C-7165-4EDE-AAEE-1C4D4D57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5F10E9-4B83-4E17-8329-BD3A0408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8150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대학 대항전과 간식차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6FFF85-C22B-47E6-A7D0-39D10ACE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27A818-361D-4C6D-A5E4-59CF7DBC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9582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럭키드로우 등 고객 참여 아이디어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EA3845-3EDB-41D1-9DA8-AE6782AF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380B81-3D31-4F4F-8328-4088A659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768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C52313-D079-4F14-854B-FD46C5FD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6732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결과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AEB313-2BE0-457D-B7A1-F3A3528B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52197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3A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4D97DE-D597-4CB2-9020-4DF365E2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67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매경비즈 직무스펙 프로젝트 대상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4ecda4d874e1e"/>
          <a:stretch xmlns:a="http://schemas.openxmlformats.org/drawingml/2006/main"/>
        </p:blipFill>
        <p:spPr>
          <a:xfrm xmlns:a="http://schemas.openxmlformats.org/drawingml/2006/main">
            <a:off x="7399826" y="2333625"/>
            <a:ext cx="3059723" cy="1714500"/>
          </a:xfrm>
          <a:prstGeom xmlns:a="http://schemas.openxmlformats.org/drawingml/2006/main" prst="rect">
            <a:avLst/>
          </a:prstGeom>
        </p:spPr>
      </p:pic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e06bc1cc64682"/>
          <a:stretch xmlns:a="http://schemas.openxmlformats.org/drawingml/2006/main"/>
        </p:blipFill>
        <p:spPr>
          <a:xfrm xmlns:a="http://schemas.openxmlformats.org/drawingml/2006/main">
            <a:off x="7258906" y="4143375"/>
            <a:ext cx="912688" cy="1571625"/>
          </a:xfrm>
          <a:prstGeom xmlns:a="http://schemas.openxmlformats.org/drawingml/2006/main" prst="rect">
            <a:avLst/>
          </a:prstGeom>
        </p:spPr>
      </p:pic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5f478d9ca4801"/>
          <a:stretch xmlns:a="http://schemas.openxmlformats.org/drawingml/2006/main"/>
        </p:blipFill>
        <p:spPr>
          <a:xfrm xmlns:a="http://schemas.openxmlformats.org/drawingml/2006/main">
            <a:off x="9671114" y="4143375"/>
            <a:ext cx="850773" cy="1571625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430FF4-3153-4B17-AA14-2DB4B0E4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1AD229-6A97-4E36-B291-11396F8C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360BBC-4B12-4D13-90A6-3DDFAB2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2024.10.12 ~ 2025.02.07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C46645-C6F2-4065-8220-62ADC319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7A900B-D75E-4957-84DF-0A7B45D6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10인 프로젝트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097860-F6D8-461D-84FD-2B60E9BD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FC5EFA-3FE8-4899-A088-56BCE41C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소비자 조사 기반 IMC 전략 · 온·오프라인 콘텐츠 기획/제작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DE209B-D731-4335-A411-EA1B71D9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9F1D13-327F-46BE-B1F1-7936E1B2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82ED3B-9D49-45A2-B134-B4C36CF5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BBFABF-B485-4E0D-874E-B9CB1B33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분석을 프로모션과 고객 접점의 실행안으로 구체화했습니다.</a:t>
            </a:r>
          </a:p>
        </p:txBody>
      </p:sp>
    </p:spTree>
    <p:extLst>
      <p:ext uri="{BB962C8B-B14F-4D97-AF65-F5344CB8AC3E}">
        <p14:creationId xmlns:p14="http://schemas.microsoft.com/office/powerpoint/2010/main" val="1667977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AEF751-E595-4930-A56E-9FFAD177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B6E07-E8DF-4070-9A49-8AA0E708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91675-87C9-4045-8691-104192A8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3F133-4438-46DA-9796-4713EFDF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(5/7)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9CB45-6CF5-43AB-BB2B-75010A23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CAAE6-EAAE-4061-B256-F0B04924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한국 웹툰 소비자 분석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11F54-5DD9-43BF-B89A-8864DBEA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고객마다 다른 선택 기준을 유형별 전략으로 연결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1157D-E7E4-4333-AE92-4522FCB5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3C946-C5D2-490D-9306-022ABF7E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2F43C-9555-4CA7-8983-A0F209E7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프로젝트 개요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9FB08-B77E-4538-B3A9-8FC29901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1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한국 웹툰의 글로벌 진출을 위해 여러 데이터 소스를 활용해 해외 소비자의 반응과 흥행 요인을 분석했습니다.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9A650-14B5-4334-8CB5-E9741370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54C46A-0EB5-47FF-B9A5-794CE572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576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98B8C-48D8-47CF-A7D4-AE6EC8E9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4807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세분화와 전략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765C17-8EC6-4AAE-8045-69B5A5EF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7B0273-C4FC-4233-B2FB-A9CD45EC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팀: 해외 소비자 반응을 5개 유형으로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7BBC38-C9EA-4FFB-AE54-4465B2B7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C1E298-1993-4874-B5D7-0E7E30C2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4340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팀: 소비자 유형별 마케팅과 해외 진출 전략 제안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1998CC-83FB-4F93-9BF8-74A92CF6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392820-FF62-497C-BDDB-B1237ACF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386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본인: 댓글 수집과 전처리, 로지스틱 회귀분석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63BBCC-8630-4422-BC01-1720BA87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2F4515-D7F0-43DB-9CCB-CC9B2C8C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3395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본인: 구독자 예측모델과 SHAP 영향요인 해석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9B45AF-3224-490E-B931-F4436E7C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52197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3A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599738-C416-47A1-B95E-B963FE0F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문화데이터 공모전 데이터분석 부문 대상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60c0c9e444d64"/>
          <a:stretch xmlns:a="http://schemas.openxmlformats.org/drawingml/2006/main"/>
        </p:blipFill>
        <p:spPr>
          <a:xfrm xmlns:a="http://schemas.openxmlformats.org/drawingml/2006/main">
            <a:off x="6429375" y="2386322"/>
            <a:ext cx="2381250" cy="1323357"/>
          </a:xfrm>
          <a:prstGeom xmlns:a="http://schemas.openxmlformats.org/drawingml/2006/main" prst="rect">
            <a:avLst/>
          </a:prstGeom>
        </p:spPr>
      </p:pic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62e0d0282e4cce"/>
          <a:stretch xmlns:a="http://schemas.openxmlformats.org/drawingml/2006/main"/>
        </p:blipFill>
        <p:spPr>
          <a:xfrm xmlns:a="http://schemas.openxmlformats.org/drawingml/2006/main">
            <a:off x="9001125" y="2389316"/>
            <a:ext cx="2381250" cy="1317369"/>
          </a:xfrm>
          <a:prstGeom xmlns:a="http://schemas.openxmlformats.org/drawingml/2006/main" prst="rect">
            <a:avLst/>
          </a:prstGeom>
        </p:spPr>
      </p:pic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8c7a15b674b39"/>
          <a:stretch xmlns:a="http://schemas.openxmlformats.org/drawingml/2006/main"/>
        </p:blipFill>
        <p:spPr>
          <a:xfrm xmlns:a="http://schemas.openxmlformats.org/drawingml/2006/main">
            <a:off x="6429375" y="4134803"/>
            <a:ext cx="2381250" cy="1303020"/>
          </a:xfrm>
          <a:prstGeom xmlns:a="http://schemas.openxmlformats.org/drawingml/2006/main" prst="rect">
            <a:avLst/>
          </a:prstGeom>
        </p:spPr>
      </p:pic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6dcd20d91415e"/>
          <a:stretch xmlns:a="http://schemas.openxmlformats.org/drawingml/2006/main"/>
        </p:blipFill>
        <p:spPr>
          <a:xfrm xmlns:a="http://schemas.openxmlformats.org/drawingml/2006/main">
            <a:off x="9001125" y="4137933"/>
            <a:ext cx="2381250" cy="1296759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5DBB84-0007-4629-810F-8399021D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509E5E-BD69-4A59-AA39-BD625CD5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D96CD5-05B8-422A-93F1-CB601BF0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2024.07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B98A2F-2C2C-4A45-B633-6E86DF71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6DC0F8-FE04-4B8C-92E5-15B88EA8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4인 팀 프로젝트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8DD3EC-4AB9-4D63-BB96-721AE303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262D3C-1972-4EAE-AC98-F659BF15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댓글 수집·전처리 · 로지스틱 회귀 · 구독자 예측모델 · SHAP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BDC05E-0E3E-4B0D-BDF3-61CE958D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C031B1-28C0-4DCC-AC93-B19A7A04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59CACA-C67B-4A00-9CF0-2015F339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81B2CE-4E75-459E-AE50-2E3A7954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고객군에 따라 선택 기준이 달라 채널별 전략도 달라야 함을 배웠습니다.</a:t>
            </a:r>
          </a:p>
        </p:txBody>
      </p:sp>
    </p:spTree>
    <p:extLst>
      <p:ext uri="{BB962C8B-B14F-4D97-AF65-F5344CB8AC3E}">
        <p14:creationId xmlns:p14="http://schemas.microsoft.com/office/powerpoint/2010/main" val="9481033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9373E48-FF01-446A-AEA7-8CC48C89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F3F80-4348-42FB-A9C1-F96F1049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E4C5B-815B-486A-A0DD-4662FDE2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341DE-35D0-4208-882A-AA45F32B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(6/7)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83625-A641-43AB-9E15-3A1409D3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68840-DBC5-41E6-B3CC-B70B53A2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고객 커뮤니케이션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D518F-2A07-4C5D-910F-F62F2027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고객의 질문을 필요한 해결책으로 바꾸다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D12E4-D8F5-435E-8005-5CC8F171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8AD61-1AE9-4B17-8F43-7EF67128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081651-BE73-4717-800B-C29F13BD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약 3년의 고객 접점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1AB11-9150-4F4A-9C71-49B9983F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대학 입학팀에서 입학전형과 제출서류, 일정, 학교생활 문의와 민원에 대응했습니다.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1725B-F709-4A91-8311-8A0BB509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796229-974E-4F57-9774-3CBF93C7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576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5F964E-D867-43EF-BEA3-7EABD234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4807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내가 한 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6BD35C-7DDE-4CC8-82DA-B8F66001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AB071E-4CF4-443A-B374-9CB44A13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문의 유형과 고객의 상황을 파악해 맞춤 정보 제공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6B8028-5E02-438B-B92E-C0E974B5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CAF544-5381-49BD-8BCE-2B19F498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4340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상담 내용을 문서화하고 유사 사례 대응 자료 관리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AA8E7A-36C9-4384-8F53-776BCDDC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5927D4-E85B-4143-ADED-428AD774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386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FAQ와 안내문 정비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17ED78-2B14-41A6-84B1-285F263A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813D66-5F3B-4CEF-A87E-F01BE92F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3395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신규 인턴의 업무 이해 지원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0C3F7C-051A-47DD-978A-4FBDDF62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5AE05B-CD42-430E-8AFA-67E148E4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3244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136CD6-6548-47FE-965D-29AED497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배운 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C71F4A-5417-447D-9EE1-113B2F02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질문 뒤에 있는 실제 필요를 파악해야 정확한 해결책을 제공할 수 있었습니다.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3D4EAD-17A8-4EAF-99AF-36D78982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762500" cy="3286125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768F38-F334-4455-B3D9-26AE068B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146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1CD990-70FB-4D9C-86DA-9AF70056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908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AE5DFA-89A1-4C0B-8394-3D98E3F2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146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문의 파악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F04E80-C809-400A-B137-89CAF720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71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질문의 상황과 필요한 정보 구분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D03A6E-6553-47EA-8759-A30A05CA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04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2A0A64-5462-479F-A873-61C5DA22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797752-5B4C-4D07-B02E-7EB5531C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004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맞춤 안내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89D8C8-B445-4A39-A744-5E9047E9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657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고객별로 정확한 정보 전달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3E5BDE-86A8-4E50-81A2-2A6E621D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862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B0CAF8-A42E-43BD-A753-273D39CA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624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CC4BED-409E-4521-9AA9-848D5DE4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862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기록과 관리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00D876-AADA-4AAC-A204-C85BF029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434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상담 내용과 유사 사례 축적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7F2AE6-8382-4220-B129-B5D39A39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720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C93BF2-1071-4F45-88C2-EB15FA47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482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AFA1C8-854E-44D1-BA58-21326775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7720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안내 개선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09EA18-97AB-4653-B1ED-38778727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0292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FAQ와 안내문 정비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75FE84-9044-4811-93E7-D950A0C7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6C2F45-E2AC-4A39-973E-ADD1B3FD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28B856C-6154-4EB9-9649-0273CFA5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약 3년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9CF87A-F39E-42D1-B31E-9FEABB09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78771C-2427-47D0-B60F-9E776701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입학팀 근무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BEF1F13-AD87-4F53-ADB8-6FFC207D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7477F8B-BB9D-4897-8B81-782F8EAE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문의·민원 응대 · 문서화 · FAQ/안내문 정비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D92388-9855-4E3C-983C-4CC51F0E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36A302-597D-47B7-949D-C4D4F374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5EEAC90-24E3-46E9-B799-44C49343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8F1AB37-79BD-417E-85D9-1B896012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내·외부 고객의 요구를 파악하고 필요한 정보를 정확히 전달하는 경험입니다.</a:t>
            </a:r>
          </a:p>
        </p:txBody>
      </p:sp>
    </p:spTree>
    <p:extLst>
      <p:ext uri="{BB962C8B-B14F-4D97-AF65-F5344CB8AC3E}">
        <p14:creationId xmlns:p14="http://schemas.microsoft.com/office/powerpoint/2010/main" val="8452787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EEEEC9-10B0-471B-A724-C86B486F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CB440-7380-4DF6-8D41-C876F3E0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6AD39-8033-4A63-9CCF-1454C590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13C31-B99E-4F59-B5E4-34891D41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(7/7)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25488-084F-44FF-A4E4-B855D691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07.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18231-632D-4FA2-908C-F4BB331C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LG생활건강 국내영업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13766-9639-47A0-BCC1-0DE358EB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지원자 경험과 국내영업 업무의 연결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D6149-F1A1-4F45-BC78-82EAA1A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3F12D-2CB2-4B2C-8C88-D93FF33B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6FC12-36EF-47C9-AB07-D18FB851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경험과 업무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97697-925F-46AF-A250-7BC63438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4191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18B60-83B6-40C3-A2E2-DA331DB9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사용자 행동 관찰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75D90F-3F39-406C-8249-00F190DE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3847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C89EBF-921C-46D0-877E-B2846081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5619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875D2-08A4-46ED-869F-D2EC2F61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2417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소비자 구매패턴 분석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49E1B-5A36-41BD-B303-6CEF8904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4191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345B35-035F-4738-BA85-E7DFB833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세분화와 데이터 분석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D60167-D0EB-47EE-97EF-7EBB2845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9092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B60ADE-D3D9-4D3B-94FB-75EBF5FD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9950"/>
            <a:ext cx="5619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780D-A75E-407C-91D8-D06CF494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766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채널별 영업전략과 상품 운영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2F7B9E-7B02-4469-8AC5-B6C89521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4191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DE9245-D6E8-4C27-8F3A-FA8291A1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0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제주항공 IMC 기획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5FC0A8-33B3-4004-A7CA-93712F22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4337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35A8FD-4852-43B6-BC4D-584FAD6B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62400"/>
            <a:ext cx="5619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EEBFC9-06C5-44B0-BB8F-CB03E2E4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2907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프로모션과 캠페인 기획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1FDB82-582B-4CB9-82EF-59B53FE3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4191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E731C7-747B-44CB-AF68-0F4AC00D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서비스 운영 후 개선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0B8BA8-C278-4E59-84B8-923A0B2D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9582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C5B16B-9BD7-494E-B27E-08A04877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14850"/>
            <a:ext cx="5619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7F8F4A-1C6E-4883-9DB7-8A8EECE9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815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영업정책 사후분석과 고도화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086C5A-CA9F-4A9D-A076-D5B9FBAD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4191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C8F994-32F1-4214-BC82-E129D3F8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339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약 3년 고객 상담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78BD87-A4EA-4DBE-A2C6-8A3D8F0D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07CD06-F4E9-47C3-9410-F4AB9F7D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67300"/>
            <a:ext cx="5619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2A9D7A-51C0-47AF-AA14-64205D78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3397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내·외부 고객 커뮤니케이션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EC65B2-1A80-4985-B6B1-FACB32A7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105918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4A83B3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3ECBAD-F2A1-44A5-AB67-25388B1D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1017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고객의 작은 구매 변화를 기회로 읽고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331659-D284-4219-B929-665CC7C0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91250"/>
            <a:ext cx="1017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채널별 실행으로 연결하는 LG생활건강의 ‘뛰어난 장사꾼’이 되겠습니다.</a:t>
            </a:r>
          </a:p>
        </p:txBody>
      </p:sp>
    </p:spTree>
    <p:extLst>
      <p:ext uri="{BB962C8B-B14F-4D97-AF65-F5344CB8AC3E}">
        <p14:creationId xmlns:p14="http://schemas.microsoft.com/office/powerpoint/2010/main" val="19567354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DCEE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1A42C1-D33F-4F0F-BBA4-63495686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428750"/>
            <a:ext cx="657225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F035A-63DE-4D45-9A4F-665FF4D2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28800"/>
            <a:ext cx="2238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6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CE429-97D8-4B7C-BC1A-8A33569E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85950"/>
            <a:ext cx="2238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A3272-B938-4EA1-85EE-281F6043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00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3B63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03B63"/>
                </a:solidFill>
                <a:latin typeface="Noto Sans KR"/>
                <a:ea typeface="Noto Sans KR"/>
                <a:cs typeface="Noto Sans KR"/>
              </a:rPr>
              <a:t>감사합니다.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3D405-AD7D-4C3A-A9BC-1BF01060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0990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6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B9D27-956D-4B3C-A002-112CA6C9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286125"/>
            <a:ext cx="5238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고객의 선택을 읽고,</a:t>
            </a:r>
          </a:p>
          <a:p xmlns:a="http://schemas.openxmlformats.org/drawingml/2006/main">
            <a:pPr algn="l">
              <a:def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데이터로 기회를 발견하며,</a:t>
            </a:r>
          </a:p>
          <a:p xmlns:a="http://schemas.openxmlformats.org/drawingml/2006/main">
            <a:pPr algn="l">
              <a:def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실행으로 성과를 만드는</a:t>
            </a:r>
          </a:p>
          <a:p xmlns:a="http://schemas.openxmlformats.org/drawingml/2006/main">
            <a:pPr algn="l">
              <a:def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영업사원이 되겠습니다.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01A0EB-F0FD-4319-90D1-247BC41A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857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김가영입니다.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3F45C-0FAD-45B6-BBD1-359635C3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1911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LG생활건강 국내영업 지원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E08A1-985D-4D61-93A7-1D349FF1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340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Thank you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8D2E4-CF23-423A-8F7B-7287D960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김가영 | 010-2923-3450 | kk991011@gmail.com</a:t>
            </a:r>
          </a:p>
        </p:txBody>
      </p:sp>
    </p:spTree>
    <p:extLst>
      <p:ext uri="{BB962C8B-B14F-4D97-AF65-F5344CB8AC3E}">
        <p14:creationId xmlns:p14="http://schemas.microsoft.com/office/powerpoint/2010/main" val="7474293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2026-09-15T01:37:29.2620000Z</dcterms:created>
  <dcterms:modified xsi:type="dcterms:W3CDTF">2026-09-15T01:37:29.2630000Z</dcterms:modified>
</coreProperties>
</file>