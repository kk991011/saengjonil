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7eb036ce3646dd" /><Relationship Type="http://schemas.openxmlformats.org/officeDocument/2006/relationships/extended-properties" Target="/docProps/app.xml" Id="R586c8822ef37454d" /><Relationship Type="http://schemas.openxmlformats.org/officeDocument/2006/relationships/officeDocument" Target="/ppt/presentation.xml" Id="Rcc9fb36c03594d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1daf55512c464d"/>
  </p:sldMasterIdLst>
  <p:notesMasterIdLst>
    <p:notesMasterId xmlns:r="http://schemas.openxmlformats.org/officeDocument/2006/relationships" r:id="Reb053da8f4bb43b7"/>
  </p:notesMasterIdLst>
  <p:sldIdLst>
    <p:sldId xmlns:r="http://schemas.openxmlformats.org/officeDocument/2006/relationships" id="256" r:id="R3d2cfbc2cfb24692"/>
    <p:sldId xmlns:r="http://schemas.openxmlformats.org/officeDocument/2006/relationships" id="257" r:id="Re28f4431b1494576"/>
    <p:sldId xmlns:r="http://schemas.openxmlformats.org/officeDocument/2006/relationships" id="258" r:id="R81a7ab65815e47c9"/>
    <p:sldId xmlns:r="http://schemas.openxmlformats.org/officeDocument/2006/relationships" id="259" r:id="R6a39b4b7e9a34677"/>
    <p:sldId xmlns:r="http://schemas.openxmlformats.org/officeDocument/2006/relationships" id="260" r:id="R046afacd629a4ea7"/>
    <p:sldId xmlns:r="http://schemas.openxmlformats.org/officeDocument/2006/relationships" id="261" r:id="R6acc972e9c424060"/>
    <p:sldId xmlns:r="http://schemas.openxmlformats.org/officeDocument/2006/relationships" id="262" r:id="Rbc2ab70cf0a846d8"/>
    <p:sldId xmlns:r="http://schemas.openxmlformats.org/officeDocument/2006/relationships" id="263" r:id="Rac111d6cfa51495f"/>
    <p:sldId xmlns:r="http://schemas.openxmlformats.org/officeDocument/2006/relationships" id="264" r:id="R139e0c6fc4994cb6"/>
    <p:sldId xmlns:r="http://schemas.openxmlformats.org/officeDocument/2006/relationships" id="265" r:id="R10635b8c192342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ad75628f214216" /><Relationship Type="http://schemas.openxmlformats.org/officeDocument/2006/relationships/slideMaster" Target="/ppt/slideMasters/slideMaster1.xml" Id="R3f1daf55512c464d" /><Relationship Type="http://schemas.openxmlformats.org/officeDocument/2006/relationships/notesMaster" Target="/ppt/notesMasters/notesMaster1.xml" Id="Reb053da8f4bb43b7" /><Relationship Type="http://schemas.openxmlformats.org/officeDocument/2006/relationships/presProps" Target="/ppt/presProps.xml" Id="Rcba838a7d0d64fbc" /><Relationship Type="http://schemas.openxmlformats.org/officeDocument/2006/relationships/tableStyles" Target="/ppt/tableStyles.xml" Id="Re7a3a1adf50f47da" /><Relationship Type="http://schemas.openxmlformats.org/officeDocument/2006/relationships/slide" Target="/ppt/slides/slide1.xml" Id="R3d2cfbc2cfb24692" /><Relationship Type="http://schemas.openxmlformats.org/officeDocument/2006/relationships/slide" Target="/ppt/slides/slide2.xml" Id="Re28f4431b1494576" /><Relationship Type="http://schemas.openxmlformats.org/officeDocument/2006/relationships/slide" Target="/ppt/slides/slide3.xml" Id="R81a7ab65815e47c9" /><Relationship Type="http://schemas.openxmlformats.org/officeDocument/2006/relationships/slide" Target="/ppt/slides/slide4.xml" Id="R6a39b4b7e9a34677" /><Relationship Type="http://schemas.openxmlformats.org/officeDocument/2006/relationships/slide" Target="/ppt/slides/slide5.xml" Id="R046afacd629a4ea7" /><Relationship Type="http://schemas.openxmlformats.org/officeDocument/2006/relationships/slide" Target="/ppt/slides/slide6.xml" Id="R6acc972e9c424060" /><Relationship Type="http://schemas.openxmlformats.org/officeDocument/2006/relationships/slide" Target="/ppt/slides/slide7.xml" Id="Rbc2ab70cf0a846d8" /><Relationship Type="http://schemas.openxmlformats.org/officeDocument/2006/relationships/slide" Target="/ppt/slides/slide8.xml" Id="Rac111d6cfa51495f" /><Relationship Type="http://schemas.openxmlformats.org/officeDocument/2006/relationships/slide" Target="/ppt/slides/slide9.xml" Id="R139e0c6fc4994cb6" /><Relationship Type="http://schemas.openxmlformats.org/officeDocument/2006/relationships/slide" Target="/ppt/slides/slide10.xml" Id="R10635b8c192342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7dc4ca570b46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fc27ce72c448f5" /><Relationship Type="http://schemas.openxmlformats.org/officeDocument/2006/relationships/notesMaster" Target="/ppt/notesMasters/notesMaster1.xml" Id="R325cd6d5b1c346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60db32cd5e475f" /><Relationship Type="http://schemas.openxmlformats.org/officeDocument/2006/relationships/notesMaster" Target="/ppt/notesMasters/notesMaster1.xml" Id="R4acf8bf59cd145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a98930cad04aa2" /><Relationship Type="http://schemas.openxmlformats.org/officeDocument/2006/relationships/notesMaster" Target="/ppt/notesMasters/notesMaster1.xml" Id="Rdd2df371453a4e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6592a155034c7c" /><Relationship Type="http://schemas.openxmlformats.org/officeDocument/2006/relationships/notesMaster" Target="/ppt/notesMasters/notesMaster1.xml" Id="Rde5ce34e551d48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c56724952a42d3" /><Relationship Type="http://schemas.openxmlformats.org/officeDocument/2006/relationships/notesMaster" Target="/ppt/notesMasters/notesMaster1.xml" Id="Rc4537f63d4b948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182ee44de144ef" /><Relationship Type="http://schemas.openxmlformats.org/officeDocument/2006/relationships/notesMaster" Target="/ppt/notesMasters/notesMaster1.xml" Id="Rae31ae97afc249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6584c1fa984816" /><Relationship Type="http://schemas.openxmlformats.org/officeDocument/2006/relationships/notesMaster" Target="/ppt/notesMasters/notesMaster1.xml" Id="R5343ce4b68d447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5090bb91cc47ee" /><Relationship Type="http://schemas.openxmlformats.org/officeDocument/2006/relationships/notesMaster" Target="/ppt/notesMasters/notesMaster1.xml" Id="R9e27eef12a2841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8270cd06834b77" /><Relationship Type="http://schemas.openxmlformats.org/officeDocument/2006/relationships/notesMaster" Target="/ppt/notesMasters/notesMaster1.xml" Id="R812444a98b5643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0f728f83e44d53" /><Relationship Type="http://schemas.openxmlformats.org/officeDocument/2006/relationships/notesMaster" Target="/ppt/notesMasters/notesMaster1.xml" Id="R26c5a04ee3424a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8a52642bf4c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85910711434d2a" /><Relationship Type="http://schemas.openxmlformats.org/officeDocument/2006/relationships/slideLayout" Target="/ppt/slideLayouts/slideLayout1.xml" Id="Ra5ecbe11abe047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ecbe11abe047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b74715b084531" /><Relationship Type="http://schemas.openxmlformats.org/officeDocument/2006/relationships/notesSlide" Target="/ppt/notesSlides/notesSlide1.xml" Id="R673f1be65c6444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9d6e67afa4968" /><Relationship Type="http://schemas.openxmlformats.org/officeDocument/2006/relationships/image" Target="/ppt/media/image.png" Id="R53f34b17be0a4bd4" /><Relationship Type="http://schemas.openxmlformats.org/officeDocument/2006/relationships/notesSlide" Target="/ppt/notesSlides/notesSlide2.xml" Id="R29f06d29697c4b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7897e8bb94871" /><Relationship Type="http://schemas.openxmlformats.org/officeDocument/2006/relationships/image" Target="/ppt/media/image2.png" Id="Rcbf0f42aa3874694" /><Relationship Type="http://schemas.openxmlformats.org/officeDocument/2006/relationships/image" Target="/ppt/media/image3.png" Id="R1a9b0521e8094c22" /><Relationship Type="http://schemas.openxmlformats.org/officeDocument/2006/relationships/notesSlide" Target="/ppt/notesSlides/notesSlide3.xml" Id="Ra3fea8c447d242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d189c9dfa4100" /><Relationship Type="http://schemas.openxmlformats.org/officeDocument/2006/relationships/image" Target="/ppt/media/image4.png" Id="R24ea22250cc34097" /><Relationship Type="http://schemas.openxmlformats.org/officeDocument/2006/relationships/image" Target="/ppt/media/image5.png" Id="R050cf426355e4d4d" /><Relationship Type="http://schemas.openxmlformats.org/officeDocument/2006/relationships/notesSlide" Target="/ppt/notesSlides/notesSlide4.xml" Id="Rf4c973f769a04c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2604caff841d5" /><Relationship Type="http://schemas.openxmlformats.org/officeDocument/2006/relationships/image" Target="/ppt/media/image6.png" Id="Rcbc1fe7234a24c98" /><Relationship Type="http://schemas.openxmlformats.org/officeDocument/2006/relationships/notesSlide" Target="/ppt/notesSlides/notesSlide5.xml" Id="R30fd49eeb33647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af96ac04540f8" /><Relationship Type="http://schemas.openxmlformats.org/officeDocument/2006/relationships/image" Target="/ppt/media/image7.png" Id="Rc2dfb6edd4c940e5" /><Relationship Type="http://schemas.openxmlformats.org/officeDocument/2006/relationships/image" Target="/ppt/media/image8.png" Id="R184ea61f795c4f6b" /><Relationship Type="http://schemas.openxmlformats.org/officeDocument/2006/relationships/image" Target="/ppt/media/image9.png" Id="R682afea8b9bb40fe" /><Relationship Type="http://schemas.openxmlformats.org/officeDocument/2006/relationships/notesSlide" Target="/ppt/notesSlides/notesSlide6.xml" Id="Rc7bf999ab14542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1b43774c040ea" /><Relationship Type="http://schemas.openxmlformats.org/officeDocument/2006/relationships/image" Target="/ppt/media/image10.png" Id="R83b0bf4b49534180" /><Relationship Type="http://schemas.openxmlformats.org/officeDocument/2006/relationships/image" Target="/ppt/media/image11.png" Id="R721ede68873043f6" /><Relationship Type="http://schemas.openxmlformats.org/officeDocument/2006/relationships/image" Target="/ppt/media/image12.png" Id="Rc378be12c3be44a6" /><Relationship Type="http://schemas.openxmlformats.org/officeDocument/2006/relationships/image" Target="/ppt/media/image13.png" Id="R09e10b9aa5e8418a" /><Relationship Type="http://schemas.openxmlformats.org/officeDocument/2006/relationships/notesSlide" Target="/ppt/notesSlides/notesSlide7.xml" Id="R265cc9532cf843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87bd229314f18" /><Relationship Type="http://schemas.openxmlformats.org/officeDocument/2006/relationships/notesSlide" Target="/ppt/notesSlides/notesSlide8.xml" Id="Rc37104c7c1564f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1ebd173924318" /><Relationship Type="http://schemas.openxmlformats.org/officeDocument/2006/relationships/notesSlide" Target="/ppt/notesSlides/notesSlide9.xml" Id="R146b82c36fc84a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8c233d3834716" /><Relationship Type="http://schemas.openxmlformats.org/officeDocument/2006/relationships/notesSlide" Target="/ppt/notesSlides/notesSlide10.xml" Id="Rd2e7dd75e1244c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69503-679D-412E-8DF7-E01C6DA6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3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AACFA-2F6E-4F9F-8946-29EADEF2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239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4328F-D4D4-471F-B7F7-FAFCB5E7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2026년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659BA-39E3-41AA-9836-C6689EE2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LG생활건강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A1647-8EB4-4AF5-B02A-78EFFD19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Home Care &amp; Daily Beauty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CE256-C20F-43BC-B025-F418EC92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국내영업 Experience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9D1CA-065B-476A-A31E-72D9CC7A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EDB88-73D1-4508-B747-F69EFEB9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23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고객의 행동을 읽고,</a:t>
            </a:r>
          </a:p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데이터로 판단하며,</a:t>
            </a:r>
          </a:p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실행으로 연결하는 사람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A7F84-B7B9-40DF-9112-9432ABC5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김가영  |  Home Care &amp; Daily Beauty 국내영업 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605E1-D11B-4F9F-9ABA-6805351E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666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P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R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T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F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L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I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14740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A515C1-9DC4-4FA7-B179-6834A51C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95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2B1C8-30F7-49A1-9792-D3E54E25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5046A-8BAA-48C7-9F7B-1590CCC8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C9C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9C9C9C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98041-B085-4060-84AB-9756FE26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Experience</a:t>
            </a:r>
          </a:p>
          <a:p xmlns:a="http://schemas.openxmlformats.org/drawingml/2006/main">
            <a:pPr algn="l">
              <a:def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AC735-FACF-4194-A759-8E5CD704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34b17be0a4bd4"/>
          <a:stretch xmlns:a="http://schemas.openxmlformats.org/drawingml/2006/main"/>
        </p:blipFill>
        <p:spPr>
          <a:xfrm xmlns:a="http://schemas.openxmlformats.org/drawingml/2006/main">
            <a:off x="923925" y="4006850"/>
            <a:ext cx="1162050" cy="1549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C880D-A02A-4724-BBC6-271183CA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6388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김가영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4E0A8-5104-4FC7-A3E9-6755A2C4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143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고객 이해에서 실행까지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D5103-54AB-41D6-BDA6-504536D5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668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국내영업을 준비해온 경험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2FBBE-18D7-438A-9681-FD74CBD1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93F86-7878-455B-A502-7B2CE038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32962-7408-4FE9-A559-E77E55CE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5C89C-26A2-42B5-B9C0-30DACEC8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08D73-7887-47DB-A8DB-EE8FB357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50명 사용자의 이용 흐름과 요구를 반영해 서비스 구조 개선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C0928-8E43-49AB-8829-634C1044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384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14880-728F-42E5-9256-9EF41FDD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7207D-9AE9-4034-851C-DBD532E7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289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36688-3295-49C1-9EDF-3673483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 기반 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71DCA-6B66-4B73-8A0A-92B8FA08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98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웹툰 소비자 분석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D1B44-CE81-488E-9632-DEB01D50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62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해외 소비자를 5개 유형으로 구분하고 유형별 전략 근거 도출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822BA-9480-4445-8EBA-3BD83FE0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4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265A9-3FCE-4403-9073-67E192A8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7C6A9-3053-4BD1-B407-B36F6E4B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052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46EA6-A37F-4A52-BEC6-F1F1B578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861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전략 기획·실행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97A70-7B6F-4DA4-B1C1-6A2906A0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861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IMC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A9C990-490B-4943-8FD4-6BDF96D9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구매행동 분석을 기반으로 온·오프라인 캠페인 기획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F38191-25A2-4354-9AA0-5B85F640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AF522-8464-4D32-91C0-3B84179E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DC30EF-D224-4DC0-8F61-D3DACECC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81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4DF95-628D-4973-925D-A632C667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624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커뮤니케이션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5A3226-99D2-4A52-A567-79406A93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624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입학팀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E90DEE-A37D-4D32-91D0-5FEE3A93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3년간 문의·민원에 대응하고 고객별 맞춤 정보 제공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A132B4-6855-4194-9555-AEAD93DB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673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349ECC-B120-4EF1-8B1B-26422765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81675"/>
            <a:ext cx="7762875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9396A2-7DAF-4792-90CC-8AB5DC4E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905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관찰   분석   실행   개선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3967B2-72C3-4B1B-8197-0ACF16C1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150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고객의 선택을 이해하고 실행 가능한 전략으로 연결</a:t>
            </a:r>
          </a:p>
        </p:txBody>
      </p:sp>
    </p:spTree>
    <p:extLst>
      <p:ext uri="{BB962C8B-B14F-4D97-AF65-F5344CB8AC3E}">
        <p14:creationId xmlns:p14="http://schemas.microsoft.com/office/powerpoint/2010/main" val="72555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94D947-7735-45ED-8C60-3E75A53B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EAFC4-5B3F-4661-A6A2-2E134C32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5DC32-0BB2-4D3F-9143-E01645A9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D6641-0504-47A0-B467-FEDC3159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(1/7)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ED7F1-05E7-4273-AA76-38EDC3CF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1F6E1-CD12-4DF9-99E3-3791F92D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E51AD-B480-49B6-8B63-1E670889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50명의 취업준비생, 기록을 지속하게 만드는 방법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65A7F-C44A-49A2-BF3A-2254E88D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BBC75-839A-46E5-A176-019D757F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0B58C-959C-4409-9752-A7D43111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BD782-D441-452C-97CB-D90682D9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취업 준비 활동과 목표를 기록하고 공유하는 서비스입니다. 참여자는 함께 준비하는 사람들의 활동을 확인하며 자신의 성장 과정을 볼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A30FA-4058-47F6-A155-A9923CB2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E8525-8106-4585-B0FA-8D1156B0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C2CBE-52FA-4BBB-9ACA-63CCADC3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고객과 나의 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341DC-AC3F-42D0-8B1E-706162AB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FDDEC-F83D-4474-A29A-47EC3167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50명 규모 취업 커뮤니티의 참여자와 운영자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89451-4169-4DF9-A42C-8E63BE2C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FFC394-B085-47ED-B27A-0C5142EF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사용자와 운영자의 이용 흐름과 필요한 정보 정의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1FD20-4547-479C-952B-99180B1F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3FBAC-C250-44E0-8FBC-A923C63B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기능 우선순위와 운영 정책 설계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C00DE-C7D2-4668-9496-2D6C84CB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6A902-994A-4411-8668-7262C047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구현 검증과 배포 후 사용자 피드백 반영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0f42aa3874694"/>
          <a:stretch xmlns:a="http://schemas.openxmlformats.org/drawingml/2006/main"/>
        </p:blipFill>
        <p:spPr>
          <a:xfrm xmlns:a="http://schemas.openxmlformats.org/drawingml/2006/main">
            <a:off x="6477000" y="2708975"/>
            <a:ext cx="4953000" cy="963799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b0521e8094c22"/>
          <a:stretch xmlns:a="http://schemas.openxmlformats.org/drawingml/2006/main"/>
        </p:blipFill>
        <p:spPr>
          <a:xfrm xmlns:a="http://schemas.openxmlformats.org/drawingml/2006/main">
            <a:off x="6429375" y="4169309"/>
            <a:ext cx="5000625" cy="1138756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C1AC7-D884-4504-9D27-D29294FF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50A711-328E-49CC-A89A-62EE821B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04F619-1C1D-4275-B50E-026094C5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운영 경험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8B8354-ADE7-49DE-A5FB-95373A50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3E9C92-915D-4B57-8E48-EFD258AC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개인 기획·운영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B2DA22-E7C3-4EC7-A55F-EC428293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EDA261-FFAC-45A9-8584-305D64BA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문제 정의 · 요구사항/정책 설계 · 구현 검증 · 배포/운영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D95A3-9AAC-496E-A14A-1ECDBF42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104D58-1F03-4AC7-99C4-7728BB1E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32340C-13F4-4E64-9DBD-4498F2D9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3B3F64-0BB3-46BB-870D-40F193C3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사용자의 행동을 관찰하고 실제 이용 흐름을 기준으로 서비스를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7517777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D4CF3B-4A79-4CAA-BE82-DAC5DA6E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1613E-DFFD-4924-AA7F-08C44409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DE193-12C0-4351-A30F-C1AEE15B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70D1F-42DA-46F6-9A9F-6E8D2F42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(2/7)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7961C-A25D-4B37-9162-C019C4D4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E2D9C-A28C-4081-9909-8FF262C6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95B16-1EE5-4DB5-8701-B66DDB58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사용자 요구와 서비스 구조 개선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F39D4-92DB-4208-8432-95BDDDDC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817A2-8197-44D1-A0F7-2F671DFA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0DD56-57AE-41E3-941B-2426452A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활동 기록 개선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0007A-EF92-42EE-96AD-67F9D20F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총 활동시간만 입력하던 구조에서 활동별 시간을 확인하고 싶다는 요구를 반영했습니다.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FB99A-0C2A-4CDF-8614-6819CC43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52197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2BD9D-0CA6-4125-93DB-9601B6F6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활동별 시간을 입력하고 확인하도록 기록 항목을 세분화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EA0CD-0714-4B4C-AAC0-AD24B4F2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3A9B5-48DC-421F-81CF-939045A6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73DFD-C4F5-412D-8D71-312EEFA4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조 세분화 기능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9A619-5CB4-4686-B073-9E998F42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21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참여자를 조별로 세분화해 같은 조의 활동 기록을 한눈에 비교할 수 있도록 개선했습니다. 운영자는 조별 참여 현황을 더 쉽게 확인할 수 있습니다.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a22250cc34097"/>
          <a:stretch xmlns:a="http://schemas.openxmlformats.org/drawingml/2006/main"/>
        </p:blipFill>
        <p:spPr>
          <a:xfrm xmlns:a="http://schemas.openxmlformats.org/drawingml/2006/main">
            <a:off x="6493051" y="2333625"/>
            <a:ext cx="4920897" cy="138112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cf426355e4d4d"/>
          <a:stretch xmlns:a="http://schemas.openxmlformats.org/drawingml/2006/main"/>
        </p:blipFill>
        <p:spPr>
          <a:xfrm xmlns:a="http://schemas.openxmlformats.org/drawingml/2006/main">
            <a:off x="6891276" y="3905250"/>
            <a:ext cx="4124447" cy="1666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30D4E-E4A4-4B62-B18A-EE46923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24583-59C8-47EC-9433-4C093318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0F00D-80F1-4506-B34D-3AF8450C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운영 경험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B4991-11D7-4149-9851-03BB9992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1D3E8-E30A-4540-ACB6-6798C92A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개인 기획·운영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D17630-4ECC-41F9-B4A4-ED2333C3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F1685-9035-4E1C-AD67-0952495F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사용자 요구 반영 · 활동별 입력 개선 · 조별 활동 기록 비교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FE4F3F-0C22-4FF2-A997-32321041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20946D-4689-4015-A9AD-ED175468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3AFDED-E0A4-4E2F-A8A1-0C002C4D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02969A-1FB9-4783-894F-CFA4C77A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실제 행동과 반응을 확인하고 실행 이후의 개선까지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1415359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8644B1-3071-4A33-B04C-31069E63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65715-EE09-45BE-B056-4542B5EB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33BB8-5615-45DE-98F9-8E8BA011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B9284-740E-48F7-A14B-485A7CA1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(3/7)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0876A-CD60-4FA3-B657-8797A5C4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00A03-32B8-4CD4-8E88-D3544CE8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리프레시 포인트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D2310-8604-445E-9F4B-B92C3DC5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2030의 구매행동에서 포인트 활성화의 실마리를 찾다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41E99-2277-4A61-9A53-B93BF00C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117E4-96C3-4D5E-B273-68E662D6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A176B-E9E9-45FC-8C7E-A63A59BE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D182F-FAF7-45AA-B8E6-45005E93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고객의 포인트 인지도와 사용을 높이기 위해 콘텐츠를 만들기 전에 고객이 포인트를 어떻게 인식하고 사용하는지 확인했습니다.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44E51-CBD7-4B45-A30C-E00E169C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25AF0-D9D3-4CDE-A3E6-036EE060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52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645E6-D567-4B39-9B85-06BE4809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43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조사와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8D387-D30F-4CDF-AB35-B71D814F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5C11E-2CE3-4112-8002-316729CD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433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대상 설문조사를 직접 설계하고 배포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55871-24BF-4087-9C5D-A3B9D46A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86C7A-FEFB-4638-BFAE-B848A6AE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672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포인트 인지도와 구매행동, 소비자 반응 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E373C-492B-4193-9BD2-9F1BBCC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6BD3A-88B1-48AF-AD40-C718FEC7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910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조사 결과를 온·오프라인 전략 방향의 근거로 활용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00295-B752-4176-8AE6-3F26123F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4FBA8-65E2-4FFE-81EB-08613872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699D5-3339-4CFB-B935-EFA8A1F7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나의 역할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530FF-1AE3-4EB0-B647-8B215BB5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조장 · 전략 기획 총괄 · 콘텐츠 기획 및 제작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1fe7234a24c98"/>
          <a:stretch xmlns:a="http://schemas.openxmlformats.org/drawingml/2006/main"/>
        </p:blipFill>
        <p:spPr>
          <a:xfrm xmlns:a="http://schemas.openxmlformats.org/drawingml/2006/main">
            <a:off x="6429619" y="2524125"/>
            <a:ext cx="5000137" cy="28098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7C214-4C31-4317-A26F-D0B8F8E8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7632CB-1BD0-4154-94CD-3A92984C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5F2F15-5C4E-4C4C-B32A-BE184A5B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2024.10.12 ~ 2025.02.07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22C36D-2DB1-4D31-BE6F-E492C560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58AFD7-6B30-43C1-AF30-1E1E4E3B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10인 프로젝트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9F5BB1-2FBE-4C8D-A91F-6323AD0F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A25613-574D-4188-98EC-9E683060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조장 · 기획 총괄 · 콘텐츠 기획 및 제작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DF4CF9-CB1F-4F6B-8477-A221ABD4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646B22-2477-4541-BA8A-35A00FB4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DBEF61-0B2E-4FB1-B4F0-7F37B571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470BFC-6395-4BEC-AA79-B74ACDFF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구매행동을 먼저 확인한 뒤 프로모션 방향을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7753730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468A19-E56C-49CA-BB6B-F7B00DA6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C6374-2CFF-459A-82A6-8001578E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B5C14-4A29-4944-8DD3-D62777D2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0CCB7-FB85-4377-93DA-56841BC9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(4/7)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6006C-6941-4E71-98B1-EF82F0CB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CB904-76BF-44BB-9B2F-1A038648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리프레시 포인트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1F92C-0B73-437F-9191-BD4798B2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온·오프라인 고객 경험으로 전략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9276E-9FF9-40CE-BD06-0CEB40D3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E356F-A8FB-46DA-AA0E-8E02E21B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EF49F-189C-4886-B678-8F80E7FD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온라인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76D4E-466F-455B-9899-233E590C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8FAAC-1145-4F47-BAE9-B4265C83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포인트 적립률을 전달하는 인포머셜 숏폼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D6FAC-913E-4843-93C1-0CCB6C79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37A06-A7B7-437E-8E4A-7CCDEDE8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765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오징어게임 패러디 바이럴 영상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A990A-0634-4501-8312-989905EC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16A77-7EF6-4776-AA4D-DBC3F323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909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앱 기반 고객 참여 이벤트 아이디어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39686-9462-45AA-864A-68148A98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3266F-AD6E-4027-A7BD-5985645F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91B1F-6FE5-4B59-B9FC-45413C7F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오프라인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3F8BD-24B1-40A4-9A1C-2EEEFEB6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D1E05-D76B-4848-AB70-9324E6AB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대학 대항전과 간식차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1289E-6D0E-4C42-9227-C8D7AB48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A91B2-8A41-49E5-ABC3-FA76D6EF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958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럭키드로우 등 고객 참여 아이디어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170BD-99D9-46EE-9BDD-211B06C6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6B7EC-06EC-428D-AD51-B2B98480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310709-1C56-4BEE-AC88-AC3173A3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0D022F-2D72-4DAB-9859-4A695A15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2197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9BF3DA-473B-41B5-A54E-6F11A826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매경비즈 직무스펙 프로젝트 대상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fb6edd4c940e5"/>
          <a:stretch xmlns:a="http://schemas.openxmlformats.org/drawingml/2006/main"/>
        </p:blipFill>
        <p:spPr>
          <a:xfrm xmlns:a="http://schemas.openxmlformats.org/drawingml/2006/main">
            <a:off x="7399826" y="2333625"/>
            <a:ext cx="3059723" cy="171450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ea61f795c4f6b"/>
          <a:stretch xmlns:a="http://schemas.openxmlformats.org/drawingml/2006/main"/>
        </p:blipFill>
        <p:spPr>
          <a:xfrm xmlns:a="http://schemas.openxmlformats.org/drawingml/2006/main">
            <a:off x="7258906" y="4143375"/>
            <a:ext cx="912688" cy="1571625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afea8b9bb40fe"/>
          <a:stretch xmlns:a="http://schemas.openxmlformats.org/drawingml/2006/main"/>
        </p:blipFill>
        <p:spPr>
          <a:xfrm xmlns:a="http://schemas.openxmlformats.org/drawingml/2006/main">
            <a:off x="9671114" y="4143375"/>
            <a:ext cx="850773" cy="15716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276628-9585-467E-91F9-D2815CCD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EA770C-4F35-4F59-9692-50A49DD2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76D8F5-686E-4355-A3EA-0D5A526E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2024.10.12 ~ 2025.02.07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16CE18-0453-4BB6-9922-9F276943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63174B-F53D-4A95-B857-57220918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10인 프로젝트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34EA9D-61E6-463B-AA96-361860D1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DF42E8-A856-46C5-B2A6-498A1B0B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소비자 조사 기반 IMC 전략 · 온·오프라인 콘텐츠 기획/제작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87483E-FDC5-4DF9-A098-8E5E6171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1537BD-CCD4-4E2A-B5B0-BFF20FFA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EF022-4479-42A7-847B-C833FE0A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6210B8-5ED4-4D5D-AE4B-D69E3D6E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분석을 프로모션과 고객 접점의 실행안으로 구체화했습니다.</a:t>
            </a:r>
          </a:p>
        </p:txBody>
      </p:sp>
    </p:spTree>
    <p:extLst>
      <p:ext uri="{BB962C8B-B14F-4D97-AF65-F5344CB8AC3E}">
        <p14:creationId xmlns:p14="http://schemas.microsoft.com/office/powerpoint/2010/main" val="1983706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91B4C2-0F2A-4A4D-A476-F7847F42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3FEC0-ADEF-42B1-80EA-2086E2FF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9B909-48D6-45C1-9BBB-E7B39A27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5FF3A-4BED-4C28-95D0-8CF5E7AE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(5/7)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E2321-42AE-49E0-8403-47378526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EDBBD-579A-4711-842A-A4A48BE4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한국 웹툰 소비자 분석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E39E8-CA20-4156-AF80-1254937B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고객마다 다른 선택 기준을 유형별 전략으로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3D076-EF20-41D5-A5C1-EEA206FD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23467-D954-4DCE-8E82-11E2604A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C8858-9A27-4B37-8A74-EADFC128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66B53-2AE0-4F83-9292-DE1EEC51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한국 웹툰의 글로벌 진출을 위해 여러 데이터 소스를 활용해 해외 소비자의 반응과 흥행 요인을 분석했습니다.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C69CC-88EF-42EC-8DA2-E3C026E9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78FC5-4541-4103-B66F-EC8C0CF9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59114-0A4A-4177-88FE-4FA8FEED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세분화와 전략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6A92E-AC92-4ADF-B4CF-4B741F9B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256A8-7582-43E4-8D1A-10A83D31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팀: 해외 소비자 반응을 5개 유형으로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54107-8219-40C1-AE9D-08478D4B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22E73-9DEE-48D4-916A-5E585240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팀: 소비자 유형별 마케팅과 해외 진출 전략 제안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318DB-4197-4FC0-A5F6-6FF9653E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02378-1826-4D45-BB8A-16F57748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본인: 댓글 수집과 전처리, 로지스틱 회귀분석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7577C-D313-433C-84E4-548D0C78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D2C42-B087-4C0B-94F9-5C878548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본인: 구독자 예측모델과 SHAP 영향요인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462C1-887E-44CE-B0AD-9B767657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52197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D82C15-419D-4C5A-9DA5-260F9639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문화데이터 공모전 데이터분석 부문 대상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0bf4b49534180"/>
          <a:stretch xmlns:a="http://schemas.openxmlformats.org/drawingml/2006/main"/>
        </p:blipFill>
        <p:spPr>
          <a:xfrm xmlns:a="http://schemas.openxmlformats.org/drawingml/2006/main">
            <a:off x="6429375" y="2386322"/>
            <a:ext cx="2381250" cy="1323357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ede68873043f6"/>
          <a:stretch xmlns:a="http://schemas.openxmlformats.org/drawingml/2006/main"/>
        </p:blipFill>
        <p:spPr>
          <a:xfrm xmlns:a="http://schemas.openxmlformats.org/drawingml/2006/main">
            <a:off x="9001125" y="2389316"/>
            <a:ext cx="2381250" cy="1317369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8be12c3be44a6"/>
          <a:stretch xmlns:a="http://schemas.openxmlformats.org/drawingml/2006/main"/>
        </p:blipFill>
        <p:spPr>
          <a:xfrm xmlns:a="http://schemas.openxmlformats.org/drawingml/2006/main">
            <a:off x="6429375" y="4134803"/>
            <a:ext cx="2381250" cy="1303020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10b9aa5e8418a"/>
          <a:stretch xmlns:a="http://schemas.openxmlformats.org/drawingml/2006/main"/>
        </p:blipFill>
        <p:spPr>
          <a:xfrm xmlns:a="http://schemas.openxmlformats.org/drawingml/2006/main">
            <a:off x="9001125" y="4137933"/>
            <a:ext cx="2381250" cy="1296759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9E69E-B806-485D-BABA-2F442C32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1030B8-6A63-4587-9826-CBEF5B08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AA295C-A7AB-4F19-A02E-4CDD4319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7EFEF9-04D4-4F92-B6C0-87D4852E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4D8655-63E1-4C25-BCCB-B5BDCF1E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4인 팀 프로젝트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918DFB-70FA-4416-A3D0-6E56F48D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3C691C-CFB8-446C-BF8A-DBD751EC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댓글 수집·전처리 · 로지스틱 회귀 · 구독자 예측모델 · SHAP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22E3A-68FE-484A-BF59-74746620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31D55E-37AD-4C72-81C3-BE5AAF28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331BC1-01B1-4AA7-B303-9C2111D6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3217A1-5F0C-4435-9460-1CAC67AB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고객군에 따라 선택 기준이 달라 채널별 전략도 달라야 함을 배웠습니다.</a:t>
            </a:r>
          </a:p>
        </p:txBody>
      </p:sp>
    </p:spTree>
    <p:extLst>
      <p:ext uri="{BB962C8B-B14F-4D97-AF65-F5344CB8AC3E}">
        <p14:creationId xmlns:p14="http://schemas.microsoft.com/office/powerpoint/2010/main" val="17611060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2C218E-6BBA-4E63-AC85-93EF1AE6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808BA-3525-4FD2-A6EC-C5F8E009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B8C4E-EDD6-49CD-8EC5-EAE86372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64D9A-7556-446F-BF69-E96EE584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(6/7)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8EB77-A1A2-4D55-A614-AA01EBAE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D49E7-F4B5-4367-BC38-FF190D3A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고객 커뮤니케이션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1ED3A-B616-448D-8D52-A890D003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고객의 질문을 필요한 해결책으로 바꾸다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6A874-3123-49E2-81D9-D3AB4984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FDBE4-1332-4958-B5FC-2FE3A169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DD234-9F05-4411-8E15-FB2F8484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3년의 고객 접점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B50A7-BE94-45B0-A789-80AE8534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대학 입학팀에서 입학전형과 제출서류, 일정, 학교생활 문의와 민원에 대응했습니다.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6BE23-75F4-4B17-8335-BB80858D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01F97-6F3B-4099-A145-4F0B7B27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DDAB3-F62D-4BFA-9E81-4B0EA5EF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내가 한 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E53F8-2FD4-46CC-A37A-74DC98B2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57CBB-B104-467D-AE6C-65871CF2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문의 유형과 고객의 상황을 파악해 맞춤 정보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3F400-718D-482A-8FC2-816EC4B8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7DDD2-C0E7-4EAB-8DE0-C0560C28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상담 내용을 문서화하고 유사 사례 대응 자료 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0DE68-C64C-4909-8876-8A830875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75C11-2D29-4AAA-978D-F48DC710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FAQ와 안내문 정비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86B55-696E-4EE2-96C1-A7892EB4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89D3A-62AE-4800-BCF2-19666547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신규 인턴의 업무 이해 지원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27001-33B2-47A8-BB48-5DB718DB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D8352F-8EA5-45CA-BF6D-A8677859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24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74BDD0-FA2D-4B62-A573-726A27AB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배운 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BD4111-A4A8-47B1-BB50-20412451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질문 뒤에 있는 실제 필요를 파악해야 정확한 해결책을 제공할 수 있었습니다.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B1BC58-9626-4B10-B178-713F8F18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3286125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75F534-49F8-4F26-86FC-449E8969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212641-6FB6-46E7-9E19-DB08F9C1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08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0964E1-60E2-4354-BD22-FDD43617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문의 파악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960A4A-CAAC-412E-9649-52E5161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71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질문의 상황과 필요한 정보 구분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011B90-B1AA-4A53-BED5-FD1538FE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04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42DD5A-6044-41F9-9442-3F987B40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5BBFA6-160E-451A-B148-9D27EB13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004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맞춤 안내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2027B0-61CA-4EB6-BA9A-682DA60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57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고객별로 정확한 정보 전달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F3EE24-4F73-485A-9B8B-EC2CDE59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62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9D71D8-9B55-4DF9-B9D1-5D9B9A21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624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3E989D-3BD3-44A1-A038-634330AE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862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기록과 관리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80E498-96E5-442B-9718-D95FC287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43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상담 내용과 유사 사례 축적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E67B1C-611F-4207-AC90-26EBB0D6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720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D99406-B5CA-41D4-8D77-3CBFAF74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482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C66552-31E4-4B9F-8A48-D1A1D80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720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안내 개선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1F88B3-80DE-4224-A9C5-0B608369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29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FAQ와 안내문 정비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226858-A407-4E19-9D42-D02E2726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65662B-1144-4500-8F83-18F126C2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0635AE-835B-4637-AA1F-874B2BB3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929B5E-4451-4D63-BA80-B8231E51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9080A2-9AFD-49E4-959F-8EAF6D2E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입학팀 근무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8E95A9-3D0E-41EC-A0FE-3E700DBC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57B717-7EF4-47EA-863D-1DCBDF24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문의·민원 응대 · 문서화 · FAQ/안내문 정비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0380EA-3F47-4796-8503-828D7FFB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197CFD-7E85-4DF2-B7D9-5EE037EF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4E8B41-A51C-4B4F-8F89-E1D67A81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8FB5B5-1603-46F1-9E12-BE9016A5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내·외부 고객의 요구를 파악하고 필요한 정보를 정확히 전달하는 경험입니다.</a:t>
            </a:r>
          </a:p>
        </p:txBody>
      </p:sp>
    </p:spTree>
    <p:extLst>
      <p:ext uri="{BB962C8B-B14F-4D97-AF65-F5344CB8AC3E}">
        <p14:creationId xmlns:p14="http://schemas.microsoft.com/office/powerpoint/2010/main" val="657919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0AB558-4771-4098-BD47-C02B7CF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95FF4-B8DF-4E31-BE2F-AF987856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AD90B-DF73-4E5E-AA09-34751535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E63CB-B305-44EC-A19C-F9B3579B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(7/7)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CC3F2-4147-4A7A-911F-C4085154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74B64-4495-499D-9FB9-89F1821B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LG생활건강 Home Care &amp; Daily Beauty 국내영업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B48C5-324C-47D7-99D4-A0363326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지원자 경험과 국내영업 업무의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0FA46-6336-4FDB-9239-04E501F0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8AC6D-6436-4E94-A67B-B73EC723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56EE7-69C0-4294-A055-DF86E9F4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경험과 업무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395DF-B9A5-428B-A0C9-C0E985DC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BE2E8-8F57-45DD-A318-244DD6F5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사용자 행동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83F54-2DDE-4495-836F-CF054505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FDEBB-2002-4F3E-B972-5A93AEDD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B4582-7D2D-43B3-AF97-FFE0E126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241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소비자 구매패턴 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C1333-B6B6-49E1-AFED-0274DF9E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0FEF3-2B24-4B90-9A31-D058AC72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세분화와 데이터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5D406-4BC0-470A-BA7B-BC69F390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909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F2D98-01E5-4C36-99D4-62213B36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CF662-8822-441B-BCDB-A9B25C69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766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채널별 영업전략과 상품 운영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9ED38-585C-43B4-9C25-BDF5423F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2D87B-4D8A-4EBD-A09A-C3C0069B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제주항공 IMC 기획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2713A-0146-4238-A306-3FB379E9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33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3EBFC-5D4A-470C-A20B-05FBD43B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624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2E26CB-7D0E-408B-B56F-1853261D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290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프로모션과 캠페인 기획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6734C-9E70-44B6-9199-CCB47EA9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4574D-B47E-4E86-A527-E7D44D73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서비스 운영 후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71B20D-891C-412B-98B9-37C413CB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958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9A632-F1AA-4D3F-95B8-D44B4834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C523BA-4CEF-42BD-9067-2C686658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815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영업정책 사후분석과 고도화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BDEF75-A5AC-4BC0-99A1-BD6C9BD0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F38264-ABF0-43B5-856E-B4C15A0B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 고객 상담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126825-BE34-4BC6-8360-174205C2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96A7B6-454B-4835-8B7B-02FF1ACB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673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2D1A84-74CE-4A4B-A77D-10186B14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339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내·외부 고객 커뮤니케이션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425169-7878-4120-A02E-B091C185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5918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4A83B3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709A16-2D22-4ABF-8EA6-D3EDE65A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고객의 작은 구매 변화를 기회로 읽고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4EE8B1-F2F0-49B7-897A-BD847316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채널별 실행으로 연결하는 LG생활건강의 ‘뛰어난 장사꾼’이 되겠습니다.</a:t>
            </a:r>
          </a:p>
        </p:txBody>
      </p:sp>
    </p:spTree>
    <p:extLst>
      <p:ext uri="{BB962C8B-B14F-4D97-AF65-F5344CB8AC3E}">
        <p14:creationId xmlns:p14="http://schemas.microsoft.com/office/powerpoint/2010/main" val="11337080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CEE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AD0AE-339C-4446-B79D-42C1931C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28750"/>
            <a:ext cx="65722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55BC7-19A0-4190-AC24-7A3FD848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2880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3DDBA-B454-44D6-BBCB-3378BFA2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8595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85241-24C9-4ECC-B90F-6808E3C6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B6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3B63"/>
                </a:solidFill>
                <a:latin typeface="Noto Sans KR"/>
                <a:ea typeface="Noto Sans KR"/>
                <a:cs typeface="Noto Sans KR"/>
              </a:rPr>
              <a:t>감사합니다.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ECD9E-BFBC-48C0-9443-C9EE0340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099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508FB-90AA-4FD4-B660-2AA73507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86125"/>
            <a:ext cx="523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고객의 선택을 읽고,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데이터로 기회를 발견하며,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실행으로 성과를 만드는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영업사원이 되겠습니다.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5342F-90EA-45C3-82B0-1B76179A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57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김가영입니다.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DDE4F-E468-4D8B-A978-6CF4E8DF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911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LG생활건강 Home Care &amp; Daily Beauty 국내영업 지원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70E0E-33C1-4769-B4A6-3C832358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Thank 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01FB1-26C2-4DB7-ADFF-94D6D95C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김가영 | 010-2923-3450 | kk991011@gmail.com</a:t>
            </a:r>
          </a:p>
        </p:txBody>
      </p:sp>
    </p:spTree>
    <p:extLst>
      <p:ext uri="{BB962C8B-B14F-4D97-AF65-F5344CB8AC3E}">
        <p14:creationId xmlns:p14="http://schemas.microsoft.com/office/powerpoint/2010/main" val="1046915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2026-09-15T01:24:02.4130000Z</dcterms:created>
  <dcterms:modified xsi:type="dcterms:W3CDTF">2026-09-15T01:24:02.4130000Z</dcterms:modified>
</coreProperties>
</file>