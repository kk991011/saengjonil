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08f3a7cef14048" /><Relationship Type="http://schemas.openxmlformats.org/officeDocument/2006/relationships/extended-properties" Target="/docProps/app.xml" Id="R5c7fda5aaf1a409e" /><Relationship Type="http://schemas.openxmlformats.org/officeDocument/2006/relationships/officeDocument" Target="/ppt/presentation.xml" Id="R664ec6c8bc124f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7db23793ff43e3"/>
  </p:sldMasterIdLst>
  <p:notesMasterIdLst>
    <p:notesMasterId xmlns:r="http://schemas.openxmlformats.org/officeDocument/2006/relationships" r:id="Rc799c01aa66d4c4e"/>
  </p:notesMasterIdLst>
  <p:sldIdLst>
    <p:sldId xmlns:r="http://schemas.openxmlformats.org/officeDocument/2006/relationships" id="256" r:id="Ra160955f521345b5"/>
    <p:sldId xmlns:r="http://schemas.openxmlformats.org/officeDocument/2006/relationships" id="257" r:id="R0d6dd2f3b5d540ba"/>
    <p:sldId xmlns:r="http://schemas.openxmlformats.org/officeDocument/2006/relationships" id="258" r:id="R3e9cc3bbf2ac4565"/>
    <p:sldId xmlns:r="http://schemas.openxmlformats.org/officeDocument/2006/relationships" id="259" r:id="Ra311a54d69e34d5d"/>
    <p:sldId xmlns:r="http://schemas.openxmlformats.org/officeDocument/2006/relationships" id="260" r:id="R37a9429b075c4a44"/>
    <p:sldId xmlns:r="http://schemas.openxmlformats.org/officeDocument/2006/relationships" id="261" r:id="Re40331279c75433b"/>
    <p:sldId xmlns:r="http://schemas.openxmlformats.org/officeDocument/2006/relationships" id="262" r:id="R0773504080fc489b"/>
    <p:sldId xmlns:r="http://schemas.openxmlformats.org/officeDocument/2006/relationships" id="263" r:id="R35c38f1b327242c2"/>
    <p:sldId xmlns:r="http://schemas.openxmlformats.org/officeDocument/2006/relationships" id="264" r:id="Rb84cd9477feb4909"/>
    <p:sldId xmlns:r="http://schemas.openxmlformats.org/officeDocument/2006/relationships" id="265" r:id="Rc0645191e08442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0324a9ac354b6d" /><Relationship Type="http://schemas.openxmlformats.org/officeDocument/2006/relationships/slideMaster" Target="/ppt/slideMasters/slideMaster1.xml" Id="R4c7db23793ff43e3" /><Relationship Type="http://schemas.openxmlformats.org/officeDocument/2006/relationships/notesMaster" Target="/ppt/notesMasters/notesMaster1.xml" Id="Rc799c01aa66d4c4e" /><Relationship Type="http://schemas.openxmlformats.org/officeDocument/2006/relationships/presProps" Target="/ppt/presProps.xml" Id="Raa188bb89d0c44f8" /><Relationship Type="http://schemas.openxmlformats.org/officeDocument/2006/relationships/tableStyles" Target="/ppt/tableStyles.xml" Id="Rb780a9bd66084a18" /><Relationship Type="http://schemas.openxmlformats.org/officeDocument/2006/relationships/slide" Target="/ppt/slides/slide1.xml" Id="Ra160955f521345b5" /><Relationship Type="http://schemas.openxmlformats.org/officeDocument/2006/relationships/slide" Target="/ppt/slides/slide2.xml" Id="R0d6dd2f3b5d540ba" /><Relationship Type="http://schemas.openxmlformats.org/officeDocument/2006/relationships/slide" Target="/ppt/slides/slide3.xml" Id="R3e9cc3bbf2ac4565" /><Relationship Type="http://schemas.openxmlformats.org/officeDocument/2006/relationships/slide" Target="/ppt/slides/slide4.xml" Id="Ra311a54d69e34d5d" /><Relationship Type="http://schemas.openxmlformats.org/officeDocument/2006/relationships/slide" Target="/ppt/slides/slide5.xml" Id="R37a9429b075c4a44" /><Relationship Type="http://schemas.openxmlformats.org/officeDocument/2006/relationships/slide" Target="/ppt/slides/slide6.xml" Id="Re40331279c75433b" /><Relationship Type="http://schemas.openxmlformats.org/officeDocument/2006/relationships/slide" Target="/ppt/slides/slide7.xml" Id="R0773504080fc489b" /><Relationship Type="http://schemas.openxmlformats.org/officeDocument/2006/relationships/slide" Target="/ppt/slides/slide8.xml" Id="R35c38f1b327242c2" /><Relationship Type="http://schemas.openxmlformats.org/officeDocument/2006/relationships/slide" Target="/ppt/slides/slide9.xml" Id="Rb84cd9477feb4909" /><Relationship Type="http://schemas.openxmlformats.org/officeDocument/2006/relationships/slide" Target="/ppt/slides/slide10.xml" Id="Rc0645191e08442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5121948a7849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61f7cec3c64521" /><Relationship Type="http://schemas.openxmlformats.org/officeDocument/2006/relationships/notesMaster" Target="/ppt/notesMasters/notesMaster1.xml" Id="R08843bb8810a4a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3bc6ebf46b4cc9" /><Relationship Type="http://schemas.openxmlformats.org/officeDocument/2006/relationships/notesMaster" Target="/ppt/notesMasters/notesMaster1.xml" Id="Rd5a784adb6864d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e150c5c9484ddd" /><Relationship Type="http://schemas.openxmlformats.org/officeDocument/2006/relationships/notesMaster" Target="/ppt/notesMasters/notesMaster1.xml" Id="R52771dd379d447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062c7d52c042b7" /><Relationship Type="http://schemas.openxmlformats.org/officeDocument/2006/relationships/notesMaster" Target="/ppt/notesMasters/notesMaster1.xml" Id="Race467343d3449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5e2a7fce42421f" /><Relationship Type="http://schemas.openxmlformats.org/officeDocument/2006/relationships/notesMaster" Target="/ppt/notesMasters/notesMaster1.xml" Id="R784e9b336d884c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f09dd9f4144a35" /><Relationship Type="http://schemas.openxmlformats.org/officeDocument/2006/relationships/notesMaster" Target="/ppt/notesMasters/notesMaster1.xml" Id="R9b3de7fba10c44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c8197093c042bd" /><Relationship Type="http://schemas.openxmlformats.org/officeDocument/2006/relationships/notesMaster" Target="/ppt/notesMasters/notesMaster1.xml" Id="R7f6e47ab861546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ce61004b1c4d32" /><Relationship Type="http://schemas.openxmlformats.org/officeDocument/2006/relationships/notesMaster" Target="/ppt/notesMasters/notesMaster1.xml" Id="R538dff71b6dc4f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a73267661a7483d" /><Relationship Type="http://schemas.openxmlformats.org/officeDocument/2006/relationships/notesMaster" Target="/ppt/notesMasters/notesMaster1.xml" Id="R347fc2c0c64847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6766660636420c" /><Relationship Type="http://schemas.openxmlformats.org/officeDocument/2006/relationships/notesMaster" Target="/ppt/notesMasters/notesMaster1.xml" Id="Ra65f2dcf69ed4c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032c60b9a4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cea056ad0f4b72" /><Relationship Type="http://schemas.openxmlformats.org/officeDocument/2006/relationships/slideLayout" Target="/ppt/slideLayouts/slideLayout1.xml" Id="R14ca0e5b182542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ca0e5b182542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d15f9071e4320" /><Relationship Type="http://schemas.openxmlformats.org/officeDocument/2006/relationships/notesSlide" Target="/ppt/notesSlides/notesSlide1.xml" Id="R468a8b43e1a841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4671674754e8c" /><Relationship Type="http://schemas.openxmlformats.org/officeDocument/2006/relationships/image" Target="/ppt/media/image.jpeg" Id="R07ae205a834a42d0" /><Relationship Type="http://schemas.openxmlformats.org/officeDocument/2006/relationships/notesSlide" Target="/ppt/notesSlides/notesSlide2.xml" Id="Rcad6f4c8e0d848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49bd3460240ff" /><Relationship Type="http://schemas.openxmlformats.org/officeDocument/2006/relationships/image" Target="/ppt/media/image.png" Id="Ree42c81e73f24463" /><Relationship Type="http://schemas.openxmlformats.org/officeDocument/2006/relationships/notesSlide" Target="/ppt/notesSlides/notesSlide3.xml" Id="R6eba5d36a2c546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7bcc90651e48e1" /><Relationship Type="http://schemas.openxmlformats.org/officeDocument/2006/relationships/image" Target="/ppt/media/image2.png" Id="Rf4e6564f6e30492e" /><Relationship Type="http://schemas.openxmlformats.org/officeDocument/2006/relationships/image" Target="/ppt/media/image3.png" Id="R2b5f772fced94353" /><Relationship Type="http://schemas.openxmlformats.org/officeDocument/2006/relationships/notesSlide" Target="/ppt/notesSlides/notesSlide4.xml" Id="Rd601818fd5c94b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e03a24a914383" /><Relationship Type="http://schemas.openxmlformats.org/officeDocument/2006/relationships/image" Target="/ppt/media/image4.png" Id="Rc62b3b6308054dcf" /><Relationship Type="http://schemas.openxmlformats.org/officeDocument/2006/relationships/notesSlide" Target="/ppt/notesSlides/notesSlide5.xml" Id="R46d74bf3075e4f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002138bc44468" /><Relationship Type="http://schemas.openxmlformats.org/officeDocument/2006/relationships/image" Target="/ppt/media/image2.jpeg" Id="Re50f293625c5465e" /><Relationship Type="http://schemas.openxmlformats.org/officeDocument/2006/relationships/notesSlide" Target="/ppt/notesSlides/notesSlide6.xml" Id="Ref4c273b664340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d694b32724b25" /><Relationship Type="http://schemas.openxmlformats.org/officeDocument/2006/relationships/image" Target="/ppt/media/image5.png" Id="R38b9155114674225" /><Relationship Type="http://schemas.openxmlformats.org/officeDocument/2006/relationships/notesSlide" Target="/ppt/notesSlides/notesSlide7.xml" Id="Raa1cb222f08842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8ec80223545dc" /><Relationship Type="http://schemas.openxmlformats.org/officeDocument/2006/relationships/notesSlide" Target="/ppt/notesSlides/notesSlide8.xml" Id="R44806e074500400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c59e4377d4763" /><Relationship Type="http://schemas.openxmlformats.org/officeDocument/2006/relationships/notesSlide" Target="/ppt/notesSlides/notesSlide9.xml" Id="R2fb5d0368748499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cc163a1d74110" /><Relationship Type="http://schemas.openxmlformats.org/officeDocument/2006/relationships/notesSlide" Target="/ppt/notesSlides/notesSlide10.xml" Id="R79d46f8065a740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F15C1-4509-450A-8099-46DDBC58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3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8ADE6-E7A3-4342-B1D9-3A311C69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239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16851-6ACD-417A-B9B7-0D74DE23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9175"/>
            <a:ext cx="723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2026년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561DC-3591-4E3D-BCC3-074C3D34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LG생활건강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36212-2935-45C2-938F-4DAA45DA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Home Care &amp; Daily Beauty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DC78C-7ACF-44C6-BFB8-EADA7BA9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 Experience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A3F3B-5BB9-4C6E-85D6-E58EFB03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04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7E54B-F9E5-4554-9899-0E74CD70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23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행동을 읽고,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판단하며,</a:t>
            </a:r>
          </a:p>
          <a:p xmlns:a="http://schemas.openxmlformats.org/drawingml/2006/main">
            <a:pPr algn="l">
              <a:def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연결하는 사람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C8899-0BA8-49DB-BE02-AE630076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 |  Home Care &amp; Daily Beauty 국내영업 지원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6E795-DD76-4709-9A7E-0D6CC2D5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62125"/>
            <a:ext cx="666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P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R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T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F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L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I</a:t>
            </a:r>
          </a:p>
          <a:p xmlns:a="http://schemas.openxmlformats.org/drawingml/2006/main">
            <a:pPr algn="ctr">
              <a:def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7DDE5"/>
                </a:solidFill>
                <a:latin typeface="Noto Sans KR"/>
                <a:ea typeface="Noto Sans KR"/>
                <a:cs typeface="Noto Sans KR"/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21106001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31E380-CD34-41EC-8026-475A0CAB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95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82235-A286-4E17-8141-BBD6C7F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2106C-3B90-46C5-B80D-D207C9DE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9C9C9C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7E882-AB84-45D0-8FB4-62BEF140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Experience</a:t>
            </a:r>
          </a:p>
          <a:p xmlns:a="http://schemas.openxmlformats.org/drawingml/2006/main">
            <a:pPr algn="l">
              <a:def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42AAF-FD38-4EA0-9F4F-E27C54B9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162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ae205a834a42d0"/>
          <a:stretch xmlns:a="http://schemas.openxmlformats.org/drawingml/2006/main"/>
        </p:blipFill>
        <p:spPr>
          <a:xfrm xmlns:a="http://schemas.openxmlformats.org/drawingml/2006/main">
            <a:off x="923925" y="4002977"/>
            <a:ext cx="1162050" cy="155714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C0DF5-4D2C-41D9-8747-5C8B7A45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63880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8017D-4442-4165-AB9B-FFA347C1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143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고객 이해에서 실행까지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AD2F5-532D-4538-A2E6-077B1AA8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668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국내영업을 준비해온 경험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10AFA-9DE7-4107-84CC-0172DB780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050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1DC76-3D45-4CAD-90DE-A1A07D1F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DA85F-F713-4072-9627-15C38FA8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9335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5C285-3D0D-48B0-9554-CEE90E24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9335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611181-331B-4D49-9C01-4999769E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885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사용자의 이용 흐름과 요구를 반영해 서비스 구조 개선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5B67F-FF5B-4BE1-9BD9-5B1844F9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384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5F422C-CD41-46BB-B830-5E6C0C1F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81FAD-2D34-40F2-8262-72FDC502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289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98001-0B60-4F00-837A-74F3F47C8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098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 기반 판단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6D783-D2D0-43F8-AAC1-C2170A3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098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웹툰 소비자 분석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D1B2D1-5123-4C56-A3B1-6B38BBB7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62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해외 소비자를 5개 유형으로 구분하고 유형별 전략 근거 도출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3FF6D7-6920-4788-9FC5-1FAF4BC6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147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EE3032-0AA1-46B8-A9FC-0902C0C2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576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ED9E9-638F-4327-8CCC-18240452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37DC69-E2D2-4152-88AD-6BE6A2A0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861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전략 기획·실행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534152-E45B-4C37-883A-903AA21F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6861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IMC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B732E8-883E-4AA3-9CEF-417FE22B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385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구매행동 분석을 기반으로 온·오프라인 캠페인 기획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4EB4EC-AC39-4D87-A050-7063A99D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1910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EDEA63-7B81-4AC4-9E15-3C10EA6F1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457200" cy="3048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AEC492-7FCA-4151-B1D2-BFCD2C71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815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E37BEB-25F7-4077-BCA9-1D8CC178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562475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620807-2222-416A-9396-451AB6CF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62475"/>
            <a:ext cx="1666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입학팀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88E18-82FA-4DBA-871D-A06A64E3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514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3년간 문의·민원에 대응하고 고객별 맞춤 정보 제공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D9E96F-9E6F-4D16-B53C-A0DB7A53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6730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EFDC20-F51A-47F7-A5F8-4A409361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81675"/>
            <a:ext cx="7762875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52DE84-EBB1-40A5-B900-1BD92E3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905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관찰   분석   실행   개선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05DA24-E9E2-47C4-8818-D5576105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15025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고객의 선택을 이해하고 실행 가능한 전략으로 연결</a:t>
            </a:r>
          </a:p>
        </p:txBody>
      </p:sp>
    </p:spTree>
    <p:extLst>
      <p:ext uri="{BB962C8B-B14F-4D97-AF65-F5344CB8AC3E}">
        <p14:creationId xmlns:p14="http://schemas.microsoft.com/office/powerpoint/2010/main" val="19735722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13CBD0-73DD-4E84-B8F4-F6B6D3B7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33BF60-6054-4EFC-9C19-A664627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0BFDE-9A2E-4733-AFC1-AABCBDA7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B2CBBF-5A1A-45F3-94F0-47DCC236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(1/7)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048DE-C60B-468B-94E1-650DD166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01.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113D59-BA3F-469A-BB4E-ADB65CF3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취업일지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E80FB5-4E39-493F-A4F7-92EC518D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50명의 취업준비생, 기록을 지속하게 만드는 방법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71735-27A1-48AA-8D02-5F63B9BB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D8B50-275C-4704-BE79-0C519681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E9063-9527-448F-80A1-D29FF9EC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3F4D11-21FD-4311-9906-10DA3767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취업 준비 활동과 목표를 기록하고 공유하는 서비스입니다. 참여자는 함께 준비하는 사람들의 활동을 확인하며 자신의 성장 과정을 볼 수 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F9172-8A61-46DB-B614-5705DE1A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7AD19F-5C84-44D6-8CE0-69029168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4F14EC-F429-456F-B377-749EC814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고객과 나의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896306-084C-4C03-8503-0AFA23A9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54B08-6D34-41B9-90AC-462C51AD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약 50명 규모 취업 커뮤니티의 참여자와 운영자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9DB3BB-9A74-4F4B-8C19-11E7553B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63AF7-5DC1-4416-A8B0-4CEC5E75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사용자와 운영자의 이용 흐름과 필요한 정보 정의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D5187-D01A-42F4-99AE-32751551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52DC5-BBC8-4674-81FB-90AF2C89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기능 우선순위와 운영 정책 설계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F3BD7-37E3-45A6-8005-93E27BAD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9B35B9-EBBA-4E8B-B048-231F656D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구현 검증과 배포 후 사용자 피드백 반영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2c81e73f24463"/>
          <a:stretch xmlns:a="http://schemas.openxmlformats.org/drawingml/2006/main"/>
        </p:blipFill>
        <p:spPr>
          <a:xfrm xmlns:a="http://schemas.openxmlformats.org/drawingml/2006/main">
            <a:off x="6381750" y="2506266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2E5DF6-F1BB-40B1-834E-AD3A137F9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13BD69-33B3-413E-8731-68914BFA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C1493B-16CE-40C3-A2EA-7B920BF6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2B446-ED29-47F9-994B-0B463B6C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E9D8AA-9C59-463F-AB20-ADA9F6E8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3E3495-5912-403E-A590-2AE9ABB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914897-B2A3-453C-BF90-7D20F93C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문제 정의 · 요구사항/정책 설계 · 구현 검증 · 배포/운영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CFD236-3A90-4276-A459-4BC1294E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C00288-CC32-43B8-889C-9755E028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53D693-BF05-43AE-858B-A9B56611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D0134B-5994-4681-AECF-7A23BF54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사용자의 행동을 관찰하고 실제 이용 흐름을 기준으로 서비스를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10177122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B84784-550C-436C-A814-E613F90E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D8F43-6052-4D15-AE80-EE225C25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85917F-AD13-4DF5-A615-5539D11A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75500-3E4A-4127-8561-4ABF1A9F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(2/7)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EC73B-3D69-4AC8-B372-FF88E7E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52B97-655A-4AF4-9682-84BE5B4F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사용자 요구와 서비스 구조 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309D7-24CE-496B-B17A-D59B7862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기록 방식과 참여 구조를 실제 이용 방식에 맞게 수정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56E1E-4617-4489-BEBD-0D7E45491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46F8A-6F1E-4002-BA00-04B8FC27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3732C9-047B-4D09-B602-4C1B685F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활동 기록 개선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AC5FD-3533-46D4-B0C1-E1F67AC4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총 활동시간만 입력하던 구조에서 활동별 시간을 확인하고 싶다는 요구를 반영했습니다.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6B1BA-22C9-48CD-9F72-908CDA7A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5219700" cy="4000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D261A-8787-4A97-9B5E-9C7E3E5D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활동별 시간을 입력하고 확인하도록 기록 항목을 세분화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1CBAD-26BC-45F9-AD28-F71966CA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51E7C-5CA5-4850-ACBC-B67C1902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D521C-0CC7-49C8-BACC-EF0DD5570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다중 그룹 구조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87481-4B2E-4651-9319-F87C9D09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219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한 사용자가 여러 프로그램에 참여하는 실제 운영을 확인했습니다. 기존 데이터 호환과 관리자 배정, 사용자 선택 흐름까지 함께 수정했습니다.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6564f6e30492e"/>
          <a:stretch xmlns:a="http://schemas.openxmlformats.org/drawingml/2006/main"/>
        </p:blipFill>
        <p:spPr>
          <a:xfrm xmlns:a="http://schemas.openxmlformats.org/drawingml/2006/main">
            <a:off x="7109354" y="2095500"/>
            <a:ext cx="3640667" cy="204787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5f772fced94353"/>
          <a:stretch xmlns:a="http://schemas.openxmlformats.org/drawingml/2006/main"/>
        </p:blipFill>
        <p:spPr>
          <a:xfrm xmlns:a="http://schemas.openxmlformats.org/drawingml/2006/main">
            <a:off x="7532688" y="4191000"/>
            <a:ext cx="2794000" cy="157162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307EC-59E6-4315-8690-5AF28B3B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B2E40-F620-465A-8C8C-B19304D4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161D5D-E5BC-48DB-B18C-24269792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운영 경험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5B04D-9603-45B5-894E-323AB0B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B9768F-1136-4CB3-A5B4-4F6CEBF1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개인 기획·운영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A6581-D335-4AB5-8972-32F587DC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0BF0CA-7507-4F86-A80D-945713BB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요구 반영 · 활동별 입력 개선 · 다중 그룹 구조 전환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7CF390-7EC0-4232-A723-7117F30D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9714C3-E7A1-43DB-BE3F-E9D83A1D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835D66-4D44-4BBD-9ADD-A5F6ECDF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77136F-A9CF-42B3-BA9B-4FC961A5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실제 행동과 반응을 확인하고 실행 이후의 개선까지 연결했습니다.</a:t>
            </a:r>
          </a:p>
        </p:txBody>
      </p:sp>
    </p:spTree>
    <p:extLst>
      <p:ext uri="{BB962C8B-B14F-4D97-AF65-F5344CB8AC3E}">
        <p14:creationId xmlns:p14="http://schemas.microsoft.com/office/powerpoint/2010/main" val="10864509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F4247E7-5157-44E9-A51F-2D37FB66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A80DD-02AD-4DB8-A838-F17C34B6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888D5-AA7B-4D5A-B66A-F5119FCA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3519E-E4EB-4D18-BC96-7F1AC73D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(3/7)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6402D-6834-4270-A880-41A475C4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9D7AC5-4A73-4A5D-9132-922C9F67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제주항공 리프레시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A1C643-7D43-4654-B582-2B5DF751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2030의 구매행동에서 포인트 활성화의 실마리를 찾다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D7822B-3BF4-4E9D-B22C-AACB1FC1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0F527-C8E9-4525-BCA1-08CAE8AE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15858-692D-4232-9156-0AED0BFA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C06C7-38B6-4EDC-BAFD-F947FDBD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고객의 포인트 인지도와 사용을 높이기 위해 콘텐츠를 만들기 전에 고객이 포인트를 어떻게 인식하고 사용하는지 확인했습니다.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93FBCA-51B8-456D-AF8E-264B7983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E229E-1968-4804-B7AA-4E44F2C3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52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B5DA47-BB08-45A8-95E4-92345721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43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조사와 판단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5BFC3-F499-446A-9588-B1BD0B7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433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F6F46-D9C8-4D1B-A97F-19EDF535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433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2030 대상 설문조사를 직접 설계하고 배포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8E1E33-E39C-42F2-83A1-5DE0496A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871EA-19DA-40F7-AA43-CBB11BD0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672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인지도와 구매행동, 소비자 반응 분석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D58E9-91F7-4267-BE02-29D59307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2BB31A-A682-490B-BE6E-BDA88FD6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910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조사 결과를 온·오프라인 전략 방향의 근거로 활용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65F380-C68F-4D25-A8EE-1D4F2BF7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261B83-E082-4696-99AB-8E35CC69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59E96B-5371-4BDA-9B26-E7430745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나의 역할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995BB-ADF0-4DF8-81DE-6FB90D13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조장 · 전략 기획 총괄 · 콘텐츠 기획 및 제작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b3b6308054dcf"/>
          <a:stretch xmlns:a="http://schemas.openxmlformats.org/drawingml/2006/main"/>
        </p:blipFill>
        <p:spPr>
          <a:xfrm xmlns:a="http://schemas.openxmlformats.org/drawingml/2006/main">
            <a:off x="6381750" y="2482453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02246C-A669-4B09-BED7-D3C9D268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061C18-5172-488A-97C4-7F69F7EE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0A822-E4E3-42E9-9D83-EF4554F1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693795-53F4-41AD-B887-9F76D88F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C2C174-62A3-429E-B966-7D9362C6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6FEE69-E357-4643-BBB0-D355A7EE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CCB54-8832-4064-B892-5903BE94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조장 · 기획 총괄 · 콘텐츠 기획 및 제작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7DF5F-E5D7-42A7-B435-2B194333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BDCA7C-7143-4AD4-BEE7-260D28E0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3FEE47-5092-4469-946E-F528A64A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3F980E-FD2E-49EF-9718-A98BC29C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구매행동을 먼저 확인한 뒤 프로모션 방향을 설계했습니다.</a:t>
            </a:r>
          </a:p>
        </p:txBody>
      </p:sp>
    </p:spTree>
    <p:extLst>
      <p:ext uri="{BB962C8B-B14F-4D97-AF65-F5344CB8AC3E}">
        <p14:creationId xmlns:p14="http://schemas.microsoft.com/office/powerpoint/2010/main" val="20723571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F09FA0-DD34-41F4-8364-C3A17F15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6FEBC-4199-4EA5-B186-484141F2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CDCDC-9446-4B12-BB7A-91281CEA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7A2C6E-9D8B-49CE-83D3-CC47D242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(4/7)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58745-5567-4507-9CA8-0274B548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9FAFDE-7A5A-47AD-ADE4-79980FD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온·오프라인 고객 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854512-F9EE-47ED-A3AB-B335C45B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조사 결과를 고객 접점의 실행안으로 구체화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B01F68-B659-4D2E-B719-4BB1B985C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96579B-E0FE-423F-A360-4EFD4669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742EE-0EC8-436F-9AE4-9ABC26A5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온라인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8A24D-2301-4FA5-B574-E1916939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4B14E-CC99-4B5E-8C26-99C24E59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포인트 적립률을 전달하는 인포머셜 숏폼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1C5EF-FE74-4078-BDC6-74C6B7C9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765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BB034-AE1B-4CF6-A939-169CD984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765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오징어게임 패러디 바이럴 영상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F33206-15EC-48EA-A894-B100AAD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BCC05-BE75-4492-8113-22876709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3909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앱 기반 고객 참여 이벤트 아이디어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0774D-77F9-48E4-876E-06E2EC8C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3B2FC4-9BE9-4549-BCE4-99EE023E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09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67A48-6F92-469D-8461-92E0DFB9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814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오프라인 실행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B2328-AEF8-4A73-868A-A99193AC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0277E6-72ED-4A73-AFDE-FDA782B7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815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대항전과 간식차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26F4D-8EA8-4B3A-BBC7-752447CF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F7D176-E83C-41A9-83DE-098B311A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958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럭키드로우 등 고객 참여 아이디어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611D3C-02AE-4244-9610-FA7EB123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2C75CA-120D-4730-A1C0-4B0EB729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7685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5656D9-356F-415C-BAA1-E7776CF0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6732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00261E-5561-4BD2-A242-AFBEBDCC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52197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1297BC-650F-4EA0-B8E0-ABB4EC88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673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매경비즈 직무스펙 프로젝트 대상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0f293625c5465e"/>
          <a:stretch xmlns:a="http://schemas.openxmlformats.org/drawingml/2006/main"/>
        </p:blipFill>
        <p:spPr>
          <a:xfrm xmlns:a="http://schemas.openxmlformats.org/drawingml/2006/main">
            <a:off x="6386513" y="2095500"/>
            <a:ext cx="5133975" cy="3667125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211574-9BD9-4162-8237-C823C60B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896AFE-488C-4BE8-8EAE-488AB4E8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DC6B8C-8FC4-4028-BA86-2FC45821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2024.10.12 ~ 2025.02.07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856095-E409-4017-A040-3D1849F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FB162A-8808-42D6-B487-73512669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10인 프로젝트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F81116-4E9B-4460-B1E0-AAB63751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D95D47-2201-4FA5-8B2A-AFF4C93A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소비자 조사 기반 IMC 전략 · 온·오프라인 콘텐츠 기획/제작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38B253-258B-4084-8DFC-4186132F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6AD7B5-A66A-4FBD-BE54-3C74BC48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318457-838E-4757-9738-3BCBA773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B5FE9A-C481-44A5-8F47-55267FBF4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분석을 프로모션과 고객 접점의 실행안으로 구체화했습니다.</a:t>
            </a:r>
          </a:p>
        </p:txBody>
      </p:sp>
    </p:spTree>
    <p:extLst>
      <p:ext uri="{BB962C8B-B14F-4D97-AF65-F5344CB8AC3E}">
        <p14:creationId xmlns:p14="http://schemas.microsoft.com/office/powerpoint/2010/main" val="16550148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C33883-1A33-460F-B6BA-EA52FBBB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515E9-80C6-4B51-AA61-F9BD4AE7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9AC6E-D684-4D61-A885-26EC8086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67169-13DB-4EC0-8B88-D9A019F5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(5/7)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5EC75-78CE-44BB-903C-C247F8EA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78436A-514A-4034-8835-8B55545A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한국 웹툰 소비자 분석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7A64F-F0BC-42DD-B616-5BC1BB6A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고객마다 다른 선택 기준을 유형별 전략으로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FFEE9-2770-4D6E-A6CA-0E8009A3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689DBD-A964-421A-8FE4-05A9FA20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878D8-73B7-4E9F-A3FC-D4E21CCA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프로젝트 개요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2A7DDB-6F07-4BDC-8BEF-4F7A376D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한국 웹툰의 글로벌 진출을 위해 여러 데이터 소스를 활용해 해외 소비자의 반응과 흥행 요인을 분석했습니다.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E2B8B-8924-4FBE-9624-A0D448FE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7FECE-7D9F-4D76-A144-3DAFDAFF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5348F-9CD7-4BAB-8E8E-795D801D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전략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79CB88-05CC-492F-8879-2246D763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209DF-C2F3-48A1-A11B-F245D2DA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해외 소비자 반응을 5개 유형으로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32FDD-53CD-4310-A9BA-D57719F17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5A54A6-104C-4089-813D-8FBFBFEE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팀: 소비자 유형별 마케팅과 해외 진출 전략 제안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8A7B3-0083-4A6E-B27B-B7B245A5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DED9E-B40E-4CEA-BF7E-6E8C7B9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댓글 수집과 전처리, 로지스틱 회귀분석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FAE20-9A7F-4A78-AC4A-1F631B29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EF3B2A-A0C8-4568-A246-D271CFA2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본인: 구독자 예측모델과 SHAP 영향요인 해석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8D44A-589F-4664-9AB5-CC8DE7D3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5219700" cy="381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A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982FCC-8DD6-4B76-9B90-AC7EF92D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문화데이터 공모전 데이터분석 부문 대상</a:t>
            </a:r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9155114674225"/>
          <a:stretch xmlns:a="http://schemas.openxmlformats.org/drawingml/2006/main"/>
        </p:blipFill>
        <p:spPr>
          <a:xfrm xmlns:a="http://schemas.openxmlformats.org/drawingml/2006/main">
            <a:off x="6381750" y="2482453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F6E70-AB4D-4BE9-85A5-9C486531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1523A9-7CB0-4CE6-8120-F30C0989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FA9E0-284D-412E-A51B-373F18DB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2024.07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21CF7D-07EB-4C21-B0B3-5122E5A1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217955-C9F6-42FE-91FE-F8767E86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4인 팀 프로젝트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8E9283-E7B3-45AF-B073-B99097E7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0F06F8-F962-497D-84C6-DF2FF76C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댓글 수집·전처리 · 로지스틱 회귀 · 구독자 예측모델 · SHAP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934717-CB85-4522-8C50-2F6F19DC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DACA8F-3A45-4E38-B7C4-BC240AEC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7103FB-D609-492A-9CE4-4C9CD6B6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807C86-4941-481A-839F-74C12B91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고객군에 따라 선택 기준이 달라 채널별 전략도 달라야 함을 배웠습니다.</a:t>
            </a:r>
          </a:p>
        </p:txBody>
      </p:sp>
    </p:spTree>
    <p:extLst>
      <p:ext uri="{BB962C8B-B14F-4D97-AF65-F5344CB8AC3E}">
        <p14:creationId xmlns:p14="http://schemas.microsoft.com/office/powerpoint/2010/main" val="1831302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416753-0AC0-4A5E-A026-84409CD8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F4809-9B89-40BA-8B2A-310BA9E0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7C8C1-D465-4548-A525-734FDE20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D786E-15DC-4F01-90F4-7B2A269C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(6/7)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92365-F776-4FC9-B155-25E2E56F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7C2A4-A88C-4FC9-B9F9-A6B7FD5F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고객 커뮤니케이션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C96509-A032-4155-96F2-35980201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고객의 질문을 필요한 해결책으로 바꾸다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9239C-D7B9-442C-9E3B-BB4D068A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C2EF6-9D04-465B-81A6-7200A545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794549-770F-45C9-BE36-DADA3DF2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3년의 고객 접점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90F28-732F-409A-86B2-B5BF7F9D9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대학 입학팀에서 입학전형과 제출서류, 일정, 학교생활 문의와 민원에 대응했습니다.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4D169-210E-4F87-84FF-77A034AC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19E66-F19C-4543-AD47-3020DDE5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BE1B0-23A5-4B27-966B-8D03FC1D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48075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내가 한 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93B89-6393-41D1-9B74-03F2D7E0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16E5A-A763-49ED-B250-9F03E0D5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문의 유형과 고객의 상황을 파악해 맞춤 정보 제공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D9941-DEA4-4E9B-BD58-9C31071C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E8B67-DC43-4664-8C42-179D03A0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4340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내용을 문서화하고 유사 사례 대응 자료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70223-210F-4904-BD48-A2B0B9D3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6BF4E0-04A0-4079-A925-96B0E9E0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638675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37194E-5B2C-49F7-9DC4-CD17B34B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94FAA-2E51-4C92-A144-923B9CE3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33950"/>
            <a:ext cx="4981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신규 인턴의 업무 이해 지원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6DD53B-C820-4BFA-B2AD-E910893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435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DB18B7-C67F-4AE9-AB01-397E58A3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3244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E086C-8818-4BC8-B52B-A8BC42A3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배운 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DED3E-5AD0-4020-8B6A-E21AB0E8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521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 뒤에 있는 실제 필요를 파악해야 정확한 해결책을 제공할 수 있었습니다.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088A60-C1C3-440A-A8DA-308BBD25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762500" cy="3286125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986B51-C4FE-4574-9784-FC5F758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146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CB5DEA-50A6-4CB5-B90B-0CCA5B8A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908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F5CCAD-AC7B-4544-B1B4-1BBE000F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146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문의 파악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1CC1B0-BE16-4B5A-B2C0-A55C0556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9718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질문의 상황과 필요한 정보 구분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F771BD-92A3-459A-A7B4-FF2EBDF3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487209-0FE4-4834-9BE0-9FB9F8C5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766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CC7BA2-7012-41AA-8631-161EEDD3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004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맞춤 안내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8028AE-C50F-4E94-8AD9-D2A11F42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6576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고객별로 정확한 정보 전달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F0F6D9-701A-4EF8-8CFF-8E479F75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862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CABD6B-8D36-4827-A754-97E742AF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624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C55703-8557-49BC-869A-E0A8FE1A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862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기록과 관리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71CADE-57C4-46D0-81D8-2909CE0F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434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상담 내용과 유사 사례 축적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54987E0-3F5D-4B5A-874C-EE8A7EE4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720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047A4B-1805-4B3A-BBBB-E7B8A99D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482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77A4770-5FD8-4893-9936-007D3C5D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72025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안내 개선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7979B8-1C19-4596-B71E-DE5F7946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292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FAQ와 안내문 정비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DBB9CB-A681-434F-9140-5D98B2D8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EEF8BC-7A05-4955-B46C-B49B1143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기간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6E24D4-66AC-49D0-8F33-ECD7B865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115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D10BCC-22A3-4F90-97FA-66FA469A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1150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형태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CE059F-7C21-4FC5-ABBB-F55A44B1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115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입학팀 근무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654ED0-A7E8-4187-8C1B-25D4B1D9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역할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867DD7-6D8E-4DC4-BC82-20A000DB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443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문의·민원 응대 · 문서화 · FAQ/안내문 정비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445ACA-523D-4BB3-9A51-0BF73ABB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34175"/>
            <a:ext cx="521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7DA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FFFB4C-A818-4646-AA36-566425A7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4762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3C3446-8838-4F37-99E8-8A1EBA8C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1722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LG SALES POINT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D77FE2-7CDA-41A0-8116-AA07CC78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63817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내·외부 고객의 요구를 파악하고 필요한 정보를 정확히 전달하는 경험입니다.</a:t>
            </a:r>
          </a:p>
        </p:txBody>
      </p:sp>
    </p:spTree>
    <p:extLst>
      <p:ext uri="{BB962C8B-B14F-4D97-AF65-F5344CB8AC3E}">
        <p14:creationId xmlns:p14="http://schemas.microsoft.com/office/powerpoint/2010/main" val="1240199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BC69C7-513B-41AF-AA0B-C66513EF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A5A5A5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E94DD-BD83-4DF9-959A-0E82795D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47650"/>
            <a:ext cx="5143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1F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515BB-88E3-403D-A74A-570C260A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57175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A7EF9-9E2A-4F9C-9A85-C9A1BCF7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5CB0CA"/>
                </a:solidFill>
                <a:latin typeface="Noto Sans KR"/>
                <a:ea typeface="Noto Sans KR"/>
                <a:cs typeface="Noto Sans KR"/>
              </a:rPr>
              <a:t>프로젝트 상세 정보 (7/7)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CB912-66E1-460B-B2C4-37C69C07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07.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0C3C5-A4BD-4AA7-85E9-AD3048EF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28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LG생활건강 Home Care &amp; Daily Beauty 국내영업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643950-D93D-4A31-BDAA-BDADB21C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: 지원자 경험과 국내영업 업무의 연결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A1A7B-F777-4C84-BFBD-CFE2EDE1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EF8750-A1A9-4BE0-9930-F0F246D5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4F2D7-51D6-4E8C-A943-7B68288D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6220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경험과 업무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B93F96-DEF4-43E5-B5F5-6A691AD4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00EE4B-01AF-4610-8480-F27B81E1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사용자 행동 관찰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4DDAD-B456-4EA1-B79A-6A7996E8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384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D56021-BFAB-4EFD-B6AF-41B7F67E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575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578D23-B160-42CB-A1BA-9EAF44C6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241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소비자 구매패턴 분석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179E1-5A80-4EDC-AD28-972EBB64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CACB1-8C00-4F66-8E9B-16686DF6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 세분화와 데이터 분석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19439B-C68F-4E7F-87F9-32E0210E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909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4CB61-D432-4F29-9906-FC034D45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99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A7E023-070A-4969-9ED4-F01F113A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766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채널별 영업전략과 상품 운영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9B0AC0-9B0D-4825-8168-187D28AC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98A69-9391-43C6-85FF-763C6210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90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제주항공 IMC 기획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4B9FAB-769C-47D9-8C2C-8718F7E4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47BC1E-BB52-493A-A39B-6102E467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624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0213E7-C86E-43D7-9B9D-4CA551D4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290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프로모션과 캠페인 기획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4155B8-A230-4F41-8E1E-4C5B94FE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807117-8545-482B-8BF1-ED207C22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서비스 운영 후 개선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A553C-971E-4A8F-9433-ED13E714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9582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722137-D66E-479B-9C20-351E8164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1485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2AB90F-7964-4293-BED5-F1872EBE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5815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영업정책 사후분석과 고도화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7B927F-EA83-40BF-BBBE-C220BEA4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41910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2F8F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E85DA-E704-4C14-9589-D90A604EF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339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약 3년 고객 상담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A5D896-EEDD-479C-A631-A1075160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48275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B0C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67B222-84B3-4C33-87AE-C1C02785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67300"/>
            <a:ext cx="561975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CEEF4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ABE987-079A-4F46-8C50-EA92D98FF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1339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A83B3"/>
                </a:solidFill>
                <a:latin typeface="Noto Sans KR"/>
                <a:ea typeface="Noto Sans KR"/>
                <a:cs typeface="Noto Sans KR"/>
              </a:rPr>
              <a:t>내·외부 고객 커뮤니케이션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33A3E2-D393-43BC-9ABC-04CE6776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5918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4A83B3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5F60A6D-EB99-4B72-9906-1F99CE3E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고객의 작은 구매 변화를 기회로 읽고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BDEE66-4720-4AF9-A765-20E49EBC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91250"/>
            <a:ext cx="10172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채널별 실행으로 연결하는 LG생활건강의 ‘뛰어난 장사꾼’이 되겠습니다.</a:t>
            </a:r>
          </a:p>
        </p:txBody>
      </p:sp>
    </p:spTree>
    <p:extLst>
      <p:ext uri="{BB962C8B-B14F-4D97-AF65-F5344CB8AC3E}">
        <p14:creationId xmlns:p14="http://schemas.microsoft.com/office/powerpoint/2010/main" val="13597900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CEE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275055-5FDF-4AE8-9B16-A724F093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657225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7F1C6-439D-4299-8157-885C301D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28800"/>
            <a:ext cx="2238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2849B-F015-4503-A641-65E98D4D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85950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675" b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가영의 포트폴리오 | Gayoung’s 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E321C-42B5-4FC4-A3EE-F1BDE6C0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003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03B63"/>
                </a:solidFill>
                <a:latin typeface="Noto Sans KR"/>
                <a:ea typeface="Noto Sans KR"/>
                <a:cs typeface="Noto Sans KR"/>
              </a:rPr>
              <a:t>감사합니다.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9EBF8-EC78-4614-A131-4F995911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099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B6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28E682-3E44-4D38-A8DF-47BCE46D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86125"/>
            <a:ext cx="523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고객의 선택을 읽고,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데이터로 기회를 발견하며,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실행으로 성과를 만드는</a:t>
            </a:r>
          </a:p>
          <a:p xmlns:a="http://schemas.openxmlformats.org/drawingml/2006/main">
            <a:pPr algn="l">
              <a:def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영업사원이 되겠습니다.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5C463-EC17-4B9C-94C0-93728E8B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857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34383B"/>
                </a:solidFill>
                <a:latin typeface="Noto Sans KR"/>
                <a:ea typeface="Noto Sans KR"/>
                <a:cs typeface="Noto Sans KR"/>
              </a:rPr>
              <a:t>김가영입니다.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E435C-9C31-4B97-85BE-1880FF18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191125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LG생활건강 Home Care &amp; Daily Beauty 국내영업 지원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35750-E270-4B88-9792-A3427ED8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311EF-91C4-4096-AD31-22D6DD2F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787E82"/>
                </a:solidFill>
                <a:latin typeface="Noto Sans KR"/>
                <a:ea typeface="Noto Sans KR"/>
                <a:cs typeface="Noto Sans KR"/>
              </a:rPr>
              <a:t>김가영 | 010-2923-3450 | kk991011@gmail.com</a:t>
            </a:r>
          </a:p>
        </p:txBody>
      </p:sp>
    </p:spTree>
    <p:extLst>
      <p:ext uri="{BB962C8B-B14F-4D97-AF65-F5344CB8AC3E}">
        <p14:creationId xmlns:p14="http://schemas.microsoft.com/office/powerpoint/2010/main" val="188316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2026-09-15T01:03:58.7080000Z</dcterms:created>
  <dcterms:modified xsi:type="dcterms:W3CDTF">2026-09-15T01:03:58.7080000Z</dcterms:modified>
</coreProperties>
</file>